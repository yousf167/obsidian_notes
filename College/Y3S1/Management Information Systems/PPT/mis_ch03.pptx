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handoutMasterIdLst>
    <p:handoutMasterId r:id="rId23"/>
  </p:handoutMasterIdLst>
  <p:sldIdLst>
    <p:sldId id="506" r:id="rId2"/>
    <p:sldId id="518" r:id="rId3"/>
    <p:sldId id="519" r:id="rId4"/>
    <p:sldId id="520" r:id="rId5"/>
    <p:sldId id="521" r:id="rId6"/>
    <p:sldId id="522" r:id="rId7"/>
    <p:sldId id="523" r:id="rId8"/>
    <p:sldId id="524" r:id="rId9"/>
    <p:sldId id="525" r:id="rId10"/>
    <p:sldId id="526" r:id="rId11"/>
    <p:sldId id="527" r:id="rId12"/>
    <p:sldId id="553" r:id="rId13"/>
    <p:sldId id="554" r:id="rId14"/>
    <p:sldId id="555" r:id="rId15"/>
    <p:sldId id="556" r:id="rId16"/>
    <p:sldId id="528" r:id="rId17"/>
    <p:sldId id="529" r:id="rId18"/>
    <p:sldId id="550" r:id="rId19"/>
    <p:sldId id="551" r:id="rId20"/>
    <p:sldId id="552" r:id="rId21"/>
  </p:sldIdLst>
  <p:sldSz cx="9144000" cy="6858000" type="screen4x3"/>
  <p:notesSz cx="6858000" cy="9144000"/>
  <p:custDataLst>
    <p:tags r:id="rId2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336">
          <p15:clr>
            <a:srgbClr val="A4A3A4"/>
          </p15:clr>
        </p15:guide>
        <p15:guide id="4" orient="horz" pos="576">
          <p15:clr>
            <a:srgbClr val="A4A3A4"/>
          </p15:clr>
        </p15:guide>
        <p15:guide id="5" orient="horz" pos="4032">
          <p15:clr>
            <a:srgbClr val="A4A3A4"/>
          </p15:clr>
        </p15:guide>
        <p15:guide id="6" orient="horz" pos="1056">
          <p15:clr>
            <a:srgbClr val="A4A3A4"/>
          </p15:clr>
        </p15:guide>
        <p15:guide id="7" pos="288">
          <p15:clr>
            <a:srgbClr val="A4A3A4"/>
          </p15:clr>
        </p15:guide>
        <p15:guide id="8" pos="5472">
          <p15:clr>
            <a:srgbClr val="A4A3A4"/>
          </p15:clr>
        </p15:guide>
        <p15:guide id="9" orient="horz" pos="864">
          <p15:clr>
            <a:srgbClr val="A4A3A4"/>
          </p15:clr>
        </p15:guide>
        <p15:guide id="10" orient="horz" pos="1200">
          <p15:clr>
            <a:srgbClr val="A4A3A4"/>
          </p15:clr>
        </p15:guide>
        <p15:guide id="11" orient="horz" pos="1536">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FDB940"/>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5721E-C80B-4E26-9CED-0EBFDBA28B49}" v="48" dt="2019-01-02T20:47:52.858"/>
  </p1510:revLst>
</p1510:revInfo>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10" autoAdjust="0"/>
    <p:restoredTop sz="71813" autoAdjust="0"/>
  </p:normalViewPr>
  <p:slideViewPr>
    <p:cSldViewPr>
      <p:cViewPr varScale="1">
        <p:scale>
          <a:sx n="48" d="100"/>
          <a:sy n="48" d="100"/>
        </p:scale>
        <p:origin x="1908" y="48"/>
      </p:cViewPr>
      <p:guideLst>
        <p:guide orient="horz" pos="2160"/>
        <p:guide pos="2880"/>
        <p:guide orient="horz" pos="336"/>
        <p:guide orient="horz" pos="576"/>
        <p:guide orient="horz" pos="4032"/>
        <p:guide orient="horz" pos="1056"/>
        <p:guide pos="288"/>
        <p:guide pos="5472"/>
        <p:guide orient="horz" pos="864"/>
        <p:guide orient="horz" pos="1200"/>
        <p:guide orient="horz" pos="1536"/>
      </p:guideLst>
    </p:cSldViewPr>
  </p:slideViewPr>
  <p:outlineViewPr>
    <p:cViewPr>
      <p:scale>
        <a:sx n="20" d="100"/>
        <a:sy n="20" d="100"/>
      </p:scale>
      <p:origin x="0" y="0"/>
    </p:cViewPr>
  </p:outlineViewPr>
  <p:notesTextViewPr>
    <p:cViewPr>
      <p:scale>
        <a:sx n="1" d="1"/>
        <a:sy n="1" d="1"/>
      </p:scale>
      <p:origin x="0" y="0"/>
    </p:cViewPr>
  </p:notesTextViewPr>
  <p:notesViewPr>
    <p:cSldViewPr>
      <p:cViewPr varScale="1">
        <p:scale>
          <a:sx n="55" d="100"/>
          <a:sy n="55" d="100"/>
        </p:scale>
        <p:origin x="-2256"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55"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12/10/2025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12/10/2025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If this PowerPoint presentation contains mathematical equations, you may need to check that your computer has the following installed:</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1) MathType Plugin</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2) Math Player (free versions available)</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3) NVDA Reader (free versions available)</a:t>
            </a:r>
          </a:p>
        </p:txBody>
      </p:sp>
      <p:sp>
        <p:nvSpPr>
          <p:cNvPr id="4" name="Slide Number Placeholder 3"/>
          <p:cNvSpPr>
            <a:spLocks noGrp="1"/>
          </p:cNvSpPr>
          <p:nvPr>
            <p:ph type="sldNum" sz="quarter" idx="10"/>
          </p:nvPr>
        </p:nvSpPr>
        <p:spPr/>
        <p:txBody>
          <a:bodyPr/>
          <a:lstStyle/>
          <a:p>
            <a:fld id="{A73D6722-9B4D-4E29-B226-C325925A8118}" type="slidenum">
              <a:rPr lang="en-US" smtClean="0"/>
              <a:t>1</a:t>
            </a:fld>
            <a:endParaRPr lang="en-US" dirty="0"/>
          </a:p>
        </p:txBody>
      </p:sp>
    </p:spTree>
    <p:extLst>
      <p:ext uri="{BB962C8B-B14F-4D97-AF65-F5344CB8AC3E}">
        <p14:creationId xmlns:p14="http://schemas.microsoft.com/office/powerpoint/2010/main" val="31684265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US" altLang="en-US" dirty="0">
                <a:latin typeface="Times New Roman" panose="02020603050405020304" pitchFamily="18" charset="0"/>
              </a:rPr>
              <a:t>Porter</a:t>
            </a:r>
            <a:r>
              <a:rPr lang="en-US" altLang="ja-JP" dirty="0">
                <a:latin typeface="Times New Roman" panose="02020603050405020304" pitchFamily="18" charset="0"/>
              </a:rPr>
              <a:t>'s model is the best-known model of competitive advantage. The</a:t>
            </a:r>
            <a:r>
              <a:rPr lang="en-US" altLang="ja-JP" baseline="0" dirty="0">
                <a:latin typeface="Times New Roman" panose="02020603050405020304" pitchFamily="18" charset="0"/>
              </a:rPr>
              <a:t> model </a:t>
            </a:r>
            <a:r>
              <a:rPr lang="en-US" altLang="ja-JP" dirty="0">
                <a:latin typeface="Times New Roman" panose="02020603050405020304" pitchFamily="18" charset="0"/>
              </a:rPr>
              <a:t>provides a nice summary of the strategic situation of firms in a larger business environment. The model focuses on industry structure (or the environment of the firm) as the main determinant of management decisions about corporate strategies. Managers don't just make up strategies out of thin air. They look at the competitive situation in their industry, and then consider ways of coping and succeeding in that environment.</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a:t>
            </a:fld>
            <a:endParaRPr lang="en-US" dirty="0"/>
          </a:p>
        </p:txBody>
      </p:sp>
    </p:spTree>
    <p:extLst>
      <p:ext uri="{BB962C8B-B14F-4D97-AF65-F5344CB8AC3E}">
        <p14:creationId xmlns:p14="http://schemas.microsoft.com/office/powerpoint/2010/main" val="23768877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defRPr/>
            </a:pPr>
            <a:r>
              <a:rPr lang="en-US" altLang="en-US" dirty="0"/>
              <a:t>Figure 3.1, Page </a:t>
            </a:r>
            <a:r>
              <a:rPr lang="en-US" altLang="en-US" dirty="0">
                <a:solidFill>
                  <a:srgbClr val="FF0000"/>
                </a:solidFill>
              </a:rPr>
              <a:t>81</a:t>
            </a:r>
            <a:r>
              <a:rPr lang="en-US" altLang="en-US" dirty="0"/>
              <a:t>.</a:t>
            </a:r>
          </a:p>
          <a:p>
            <a:pPr lvl="0">
              <a:defRPr/>
            </a:pPr>
            <a:endParaRPr lang="en-US" altLang="en-US" dirty="0"/>
          </a:p>
          <a:p>
            <a:r>
              <a:rPr lang="en-US" i="1" dirty="0">
                <a:ea typeface="Arial"/>
                <a:cs typeface="Arial"/>
                <a:sym typeface="Arial"/>
              </a:rPr>
              <a:t>In Porter’s competitive forces model, the strategic position of the firm and its strategies are determined not only by competition with its traditional direct competitors but also by four forces in the industry’s environment: new market entrants, substitute products, customers, and suppliers.</a:t>
            </a:r>
            <a:endParaRPr lang="en-US" altLang="en-US" dirty="0">
              <a:ea typeface="Arial"/>
              <a:cs typeface="Arial"/>
              <a:sym typeface="Arial"/>
            </a:endParaRPr>
          </a:p>
          <a:p>
            <a:endParaRPr lang="en-US" altLang="en-US" dirty="0">
              <a:latin typeface="Times New Roman" panose="02020603050405020304" pitchFamily="18" charset="0"/>
            </a:endParaRPr>
          </a:p>
          <a:p>
            <a:r>
              <a:rPr lang="en-US" altLang="en-US" dirty="0">
                <a:latin typeface="Times New Roman" panose="02020603050405020304" pitchFamily="18" charset="0"/>
              </a:rPr>
              <a:t>A good way to teach this model is to take a specific industry and ask students to fill in the boxes in the model (starting with the environmental boxes). Any industry can be analyzed: automobiles, PC computers, smartphones, and so on.</a:t>
            </a:r>
          </a:p>
          <a:p>
            <a:endParaRPr lang="en-US" altLang="en-US" dirty="0">
              <a:latin typeface="Times New Roman" panose="02020603050405020304" pitchFamily="18" charset="0"/>
            </a:endParaRPr>
          </a:p>
          <a:p>
            <a:r>
              <a:rPr lang="en-US" sz="1200" b="1" kern="1200" dirty="0">
                <a:solidFill>
                  <a:schemeClr val="tx1"/>
                </a:solidFill>
                <a:effectLst/>
                <a:latin typeface="+mn-lt"/>
                <a:ea typeface="+mn-ea"/>
                <a:cs typeface="+mn-cs"/>
              </a:rPr>
              <a:t>Long Description: </a:t>
            </a:r>
          </a:p>
          <a:p>
            <a:r>
              <a:rPr lang="en-US" sz="1200" kern="1200" dirty="0">
                <a:solidFill>
                  <a:schemeClr val="tx1"/>
                </a:solidFill>
                <a:effectLst/>
                <a:latin typeface="+mn-lt"/>
                <a:ea typeface="+mn-ea"/>
                <a:cs typeface="+mn-cs"/>
              </a:rPr>
              <a:t> </a:t>
            </a:r>
            <a:endParaRPr lang="en-US" dirty="0">
              <a:effectLst/>
            </a:endParaRPr>
          </a:p>
          <a:p>
            <a:r>
              <a:rPr lang="en-US" sz="1200" kern="1200" dirty="0">
                <a:solidFill>
                  <a:schemeClr val="tx1"/>
                </a:solidFill>
                <a:effectLst/>
                <a:latin typeface="+mn-lt"/>
                <a:ea typeface="+mn-ea"/>
                <a:cs typeface="+mn-cs"/>
              </a:rPr>
              <a:t>The diagram illustrates “The Firm” and “Competitors” as the major elements of Porter’s competitive forces model. It shows the firm and competitors sharing a direct relationship, denoted by a double-headed arrow. The other competitive forces of the model are “New market entrants,” “Substitute products,” “Customers,” and “Suppliers.” </a:t>
            </a:r>
            <a:endParaRPr lang="en-US" dirty="0">
              <a:effectLst/>
            </a:endParaRPr>
          </a:p>
          <a:p>
            <a:endParaRPr lang="en-US" altLang="en-US" dirty="0">
              <a:latin typeface="Times New Roman" panose="02020603050405020304" pitchFamily="18" charset="0"/>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a:t>
            </a:fld>
            <a:endParaRPr lang="en-US" dirty="0"/>
          </a:p>
        </p:txBody>
      </p:sp>
    </p:spTree>
    <p:extLst>
      <p:ext uri="{BB962C8B-B14F-4D97-AF65-F5344CB8AC3E}">
        <p14:creationId xmlns:p14="http://schemas.microsoft.com/office/powerpoint/2010/main" val="17451160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en-US" dirty="0">
                <a:latin typeface="Times New Roman" panose="02020603050405020304" pitchFamily="18" charset="0"/>
              </a:rPr>
              <a:t>Information systems often play a critical role in defining and achieving strategic objectives of the firm. Sometimes, IS is tangential: Coca Cola for instance is not an intense technology user and maintains its differentiated product through marketing and branding efforts. Other firms are intensely using IS to achieve competitive advantages, from Walmart to Facebook, Amazon, and Google.  </a:t>
            </a:r>
          </a:p>
          <a:p>
            <a:endParaRPr lang="en-US" altLang="en-US" dirty="0">
              <a:latin typeface="Times New Roman" panose="02020603050405020304" pitchFamily="18" charset="0"/>
            </a:endParaRPr>
          </a:p>
          <a:p>
            <a:r>
              <a:rPr lang="en-US" altLang="en-US" dirty="0">
                <a:latin typeface="Times New Roman" panose="02020603050405020304" pitchFamily="18" charset="0"/>
              </a:rPr>
              <a:t>The first step in using information systems to serve your firm is to make sure the IS objectives are lined up with the business objectives.</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a:t>
            </a:fld>
            <a:endParaRPr lang="en-US" dirty="0"/>
          </a:p>
        </p:txBody>
      </p:sp>
    </p:spTree>
    <p:extLst>
      <p:ext uri="{BB962C8B-B14F-4D97-AF65-F5344CB8AC3E}">
        <p14:creationId xmlns:p14="http://schemas.microsoft.com/office/powerpoint/2010/main" val="30129406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en-US" dirty="0">
                <a:latin typeface="Times New Roman" panose="02020603050405020304" pitchFamily="18" charset="0"/>
              </a:rPr>
              <a:t>In the physical retail industry, including groceries, the keys to success are efficiency in moving product through your pipeline, minimizing inventory and time delays between receipt of the goods, and the customer purchase. Large regional and national grocery chains like Krogers, Walmart, Shoprite, Safeway, and Publix are competing directly with Amazon by offering online ordering and home delivery using their local stores as warehouses.</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a:t>
            </a:fld>
            <a:endParaRPr lang="en-US" dirty="0"/>
          </a:p>
        </p:txBody>
      </p:sp>
    </p:spTree>
    <p:extLst>
      <p:ext uri="{BB962C8B-B14F-4D97-AF65-F5344CB8AC3E}">
        <p14:creationId xmlns:p14="http://schemas.microsoft.com/office/powerpoint/2010/main" val="28272338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en-US" dirty="0">
                <a:latin typeface="Times New Roman" panose="02020603050405020304" pitchFamily="18" charset="0"/>
              </a:rPr>
              <a:t>Ask students to help you make a list of companies that have really unique products or services. It</a:t>
            </a:r>
            <a:r>
              <a:rPr lang="en-US" altLang="ja-JP" dirty="0">
                <a:latin typeface="Times New Roman" panose="02020603050405020304" pitchFamily="18" charset="0"/>
              </a:rPr>
              <a:t>'s fun to ask students for local firms on this list. There may be a really unique pizza store, theater, or restaurant in the neighborhood to help illustrate the point about product differentiation as a competitive strategy.</a:t>
            </a:r>
            <a:endParaRPr lang="en-US" altLang="en-US" dirty="0">
              <a:latin typeface="Times New Roman" panose="02020603050405020304" pitchFamily="18" charset="0"/>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6</a:t>
            </a:fld>
            <a:endParaRPr lang="en-US" dirty="0"/>
          </a:p>
        </p:txBody>
      </p:sp>
    </p:spTree>
    <p:extLst>
      <p:ext uri="{BB962C8B-B14F-4D97-AF65-F5344CB8AC3E}">
        <p14:creationId xmlns:p14="http://schemas.microsoft.com/office/powerpoint/2010/main" val="7281738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en-US" dirty="0">
                <a:latin typeface="Times New Roman" panose="02020603050405020304" pitchFamily="18" charset="0"/>
              </a:rPr>
              <a:t>Ask students for web stores that appeal to a very small niche market, e.g., people with unique hobbies, special interests, or different political and cultural views. Etsy is a good example to visit in class.</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7</a:t>
            </a:fld>
            <a:endParaRPr lang="en-US" dirty="0"/>
          </a:p>
        </p:txBody>
      </p:sp>
    </p:spTree>
    <p:extLst>
      <p:ext uri="{BB962C8B-B14F-4D97-AF65-F5344CB8AC3E}">
        <p14:creationId xmlns:p14="http://schemas.microsoft.com/office/powerpoint/2010/main" val="13597936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en-US" dirty="0">
                <a:latin typeface="Times New Roman" panose="02020603050405020304" pitchFamily="18" charset="0"/>
              </a:rPr>
              <a:t>Ask students to describe and discuss firms that they believe really </a:t>
            </a:r>
            <a:r>
              <a:rPr lang="ja-JP" altLang="en-US">
                <a:latin typeface="Times New Roman" panose="02020603050405020304" pitchFamily="18" charset="0"/>
              </a:rPr>
              <a:t>“</a:t>
            </a:r>
            <a:r>
              <a:rPr lang="en-US" altLang="ja-JP" dirty="0">
                <a:latin typeface="Times New Roman" panose="02020603050405020304" pitchFamily="18" charset="0"/>
              </a:rPr>
              <a:t>care about the customer</a:t>
            </a:r>
            <a:r>
              <a:rPr lang="ja-JP" altLang="en-US">
                <a:latin typeface="Times New Roman" panose="02020603050405020304" pitchFamily="18" charset="0"/>
              </a:rPr>
              <a:t>”</a:t>
            </a:r>
            <a:r>
              <a:rPr lang="en-US" altLang="ja-JP" dirty="0">
                <a:latin typeface="Times New Roman" panose="02020603050405020304" pitchFamily="18" charset="0"/>
              </a:rPr>
              <a:t> or offer great customer service. If this proves difficult, ask them to talk about companies with really poor customer service. Everybody knows a really poor customer service organization. In these discussions, ask students how IS could help improve the relationship with the customer.</a:t>
            </a:r>
            <a:endParaRPr lang="en-US" altLang="en-US" dirty="0">
              <a:latin typeface="Times New Roman" panose="02020603050405020304" pitchFamily="18" charset="0"/>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8</a:t>
            </a:fld>
            <a:endParaRPr lang="en-US" dirty="0"/>
          </a:p>
        </p:txBody>
      </p:sp>
    </p:spTree>
    <p:extLst>
      <p:ext uri="{BB962C8B-B14F-4D97-AF65-F5344CB8AC3E}">
        <p14:creationId xmlns:p14="http://schemas.microsoft.com/office/powerpoint/2010/main" val="23033509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US" altLang="en-US" dirty="0">
                <a:latin typeface="Times New Roman" panose="02020603050405020304" pitchFamily="18" charset="0"/>
              </a:rPr>
              <a:t>Ask students to help you put together a list of industries that have been greatly impacted by the Internet and the web. Then for each industry, ask them to describe how the Internet has changed the industry. How has the Internet changed that industry from a consumer perspective? Can students think of some industries that have been destroyed by the Internet? Or greatly changed? Record stores, video stores, and small local bookstores come to mind.</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9</a:t>
            </a:fld>
            <a:endParaRPr lang="en-US" dirty="0"/>
          </a:p>
        </p:txBody>
      </p:sp>
    </p:spTree>
    <p:extLst>
      <p:ext uri="{BB962C8B-B14F-4D97-AF65-F5344CB8AC3E}">
        <p14:creationId xmlns:p14="http://schemas.microsoft.com/office/powerpoint/2010/main" val="110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US" altLang="en-US" dirty="0">
                <a:latin typeface="Times New Roman" panose="02020603050405020304" pitchFamily="18" charset="0"/>
              </a:rPr>
              <a:t>Porter</a:t>
            </a:r>
            <a:r>
              <a:rPr lang="en-US" altLang="ja-JP" dirty="0">
                <a:latin typeface="Times New Roman" panose="02020603050405020304" pitchFamily="18" charset="0"/>
              </a:rPr>
              <a:t>'s industry analysis is not the only competitive strategy model. In the business chain (really a business process model), firms achieve competitive advantages by being more efficient. This does not mean low-priced. The gains from efficiency may be retained by the firm as greater profits, depending on the competitive situation. For instance, Walmart adopted a business value chain model to achieve the lowest prices, but not so low as to report lower profits.</a:t>
            </a:r>
            <a:endParaRPr lang="en-US" altLang="en-US" dirty="0">
              <a:latin typeface="Times New Roman" panose="02020603050405020304" pitchFamily="18" charset="0"/>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10</a:t>
            </a:fld>
            <a:endParaRPr lang="en-US" dirty="0"/>
          </a:p>
        </p:txBody>
      </p:sp>
    </p:spTree>
    <p:extLst>
      <p:ext uri="{BB962C8B-B14F-4D97-AF65-F5344CB8AC3E}">
        <p14:creationId xmlns:p14="http://schemas.microsoft.com/office/powerpoint/2010/main" val="1674927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pPr lvl="0">
              <a:defRPr/>
            </a:pPr>
            <a:r>
              <a:rPr lang="en-US" altLang="en-US" dirty="0"/>
              <a:t>Figure 3.2, Page </a:t>
            </a:r>
            <a:r>
              <a:rPr lang="en-US" altLang="en-US" dirty="0">
                <a:solidFill>
                  <a:srgbClr val="FF0000"/>
                </a:solidFill>
              </a:rPr>
              <a:t>89</a:t>
            </a:r>
            <a:r>
              <a:rPr lang="en-US" altLang="en-US" dirty="0"/>
              <a:t>.</a:t>
            </a:r>
          </a:p>
          <a:p>
            <a:pPr lvl="0">
              <a:defRPr/>
            </a:pPr>
            <a:endParaRPr lang="en-US" altLang="en-US" dirty="0"/>
          </a:p>
          <a:p>
            <a:r>
              <a:rPr lang="en-US" i="1" dirty="0">
                <a:ea typeface="Arial"/>
                <a:cs typeface="Arial"/>
                <a:sym typeface="Arial"/>
              </a:rPr>
              <a:t>This figure provides examples of systems for both primary and support activities of a firm and of its value partners that would add a margin of value to a firm’s products or services.</a:t>
            </a:r>
            <a:endParaRPr lang="en-US" altLang="en-US" dirty="0">
              <a:ea typeface="Arial"/>
              <a:cs typeface="Arial"/>
              <a:sym typeface="Arial"/>
            </a:endParaRPr>
          </a:p>
          <a:p>
            <a:endParaRPr lang="en-US" altLang="en-US" dirty="0">
              <a:latin typeface="Times New Roman" panose="02020603050405020304" pitchFamily="18" charset="0"/>
            </a:endParaRPr>
          </a:p>
          <a:p>
            <a:r>
              <a:rPr lang="en-US" altLang="en-US" dirty="0">
                <a:latin typeface="Times New Roman" panose="02020603050405020304" pitchFamily="18" charset="0"/>
              </a:rPr>
              <a:t>You can ask a single student to describe the business value chain in a business where they now work, or did work. Then ask the student to talk about how information systems were used in each step of the value chain.</a:t>
            </a:r>
          </a:p>
          <a:p>
            <a:endParaRPr lang="en-US" altLang="en-US" dirty="0">
              <a:latin typeface="Times New Roman" panose="02020603050405020304" pitchFamily="18" charset="0"/>
            </a:endParaRPr>
          </a:p>
          <a:p>
            <a:r>
              <a:rPr lang="en-US" sz="1200" b="1" kern="1200" dirty="0">
                <a:solidFill>
                  <a:schemeClr val="tx1"/>
                </a:solidFill>
                <a:effectLst/>
                <a:latin typeface="+mn-lt"/>
                <a:ea typeface="+mn-ea"/>
                <a:cs typeface="+mn-cs"/>
              </a:rPr>
              <a:t>Long Description:</a:t>
            </a:r>
            <a:endParaRPr lang="en-US" dirty="0">
              <a:effectLst/>
            </a:endParaRPr>
          </a:p>
          <a:p>
            <a:r>
              <a:rPr lang="en-US" sz="1200" kern="1200" dirty="0">
                <a:solidFill>
                  <a:schemeClr val="tx1"/>
                </a:solidFill>
                <a:effectLst/>
                <a:latin typeface="+mn-lt"/>
                <a:ea typeface="+mn-ea"/>
                <a:cs typeface="+mn-cs"/>
              </a:rPr>
              <a:t> </a:t>
            </a:r>
            <a:endParaRPr lang="en-US" dirty="0">
              <a:effectLst/>
            </a:endParaRPr>
          </a:p>
          <a:p>
            <a:r>
              <a:rPr lang="en-US" sz="1200" kern="1200" dirty="0">
                <a:solidFill>
                  <a:schemeClr val="tx1"/>
                </a:solidFill>
                <a:effectLst/>
                <a:latin typeface="+mn-lt"/>
                <a:ea typeface="+mn-ea"/>
                <a:cs typeface="+mn-cs"/>
              </a:rPr>
              <a:t>The diagram illustrates the firm’s activities classified as “Support activities” and “Primary activities.” The support and primary activities establish the “firm value chain.” The different support activities are as follows:</a:t>
            </a:r>
            <a:endParaRPr lang="en-US" dirty="0">
              <a:effectLst/>
            </a:endParaRPr>
          </a:p>
          <a:p>
            <a:r>
              <a:rPr lang="en-US" sz="1200" kern="1200" dirty="0">
                <a:solidFill>
                  <a:schemeClr val="tx1"/>
                </a:solidFill>
                <a:effectLst/>
                <a:latin typeface="+mn-lt"/>
                <a:ea typeface="+mn-ea"/>
                <a:cs typeface="+mn-cs"/>
              </a:rPr>
              <a:t> </a:t>
            </a:r>
            <a:endParaRPr lang="en-US" dirty="0">
              <a:effectLst/>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Administration and Management: Electronic scheduling and messaging systems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Human Resources: Workforce planning systems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Technology: Computer-aided design systems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Procurement: Computerized purchasing systems</a:t>
            </a:r>
          </a:p>
          <a:p>
            <a:r>
              <a:rPr lang="en-US" sz="1200" kern="1200" dirty="0">
                <a:solidFill>
                  <a:schemeClr val="tx1"/>
                </a:solidFill>
                <a:effectLst/>
                <a:latin typeface="+mn-lt"/>
                <a:ea typeface="+mn-ea"/>
                <a:cs typeface="+mn-cs"/>
              </a:rPr>
              <a:t> </a:t>
            </a:r>
            <a:endParaRPr lang="en-US" dirty="0">
              <a:effectLst/>
            </a:endParaRPr>
          </a:p>
          <a:p>
            <a:r>
              <a:rPr lang="en-US" sz="1200" kern="1200" dirty="0">
                <a:solidFill>
                  <a:schemeClr val="tx1"/>
                </a:solidFill>
                <a:effectLst/>
                <a:latin typeface="+mn-lt"/>
                <a:ea typeface="+mn-ea"/>
                <a:cs typeface="+mn-cs"/>
              </a:rPr>
              <a:t>The different primary activities are as follows:</a:t>
            </a:r>
            <a:endParaRPr lang="en-US" dirty="0">
              <a:effectLst/>
            </a:endParaRPr>
          </a:p>
          <a:p>
            <a:r>
              <a:rPr lang="en-US" sz="1200" kern="1200" dirty="0">
                <a:solidFill>
                  <a:schemeClr val="tx1"/>
                </a:solidFill>
                <a:effectLst/>
                <a:latin typeface="+mn-lt"/>
                <a:ea typeface="+mn-ea"/>
                <a:cs typeface="+mn-cs"/>
              </a:rPr>
              <a:t> </a:t>
            </a:r>
            <a:endParaRPr lang="en-US" dirty="0">
              <a:effectLst/>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Inbound Logistics: Automated warehousing systems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Operations: Computer-controlled machining systems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Sales and Marketing: Computerized ordering systems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Service: Equipment maintenance systems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Outbound Logistics: Automated shipment scheduling systems</a:t>
            </a:r>
          </a:p>
          <a:p>
            <a:r>
              <a:rPr lang="en-US" sz="1200" kern="1200" dirty="0">
                <a:solidFill>
                  <a:schemeClr val="tx1"/>
                </a:solidFill>
                <a:effectLst/>
                <a:latin typeface="+mn-lt"/>
                <a:ea typeface="+mn-ea"/>
                <a:cs typeface="+mn-cs"/>
              </a:rPr>
              <a:t> </a:t>
            </a:r>
            <a:endParaRPr lang="en-US" dirty="0">
              <a:effectLst/>
            </a:endParaRPr>
          </a:p>
          <a:p>
            <a:r>
              <a:rPr lang="en-US" sz="1200" kern="1200" dirty="0">
                <a:solidFill>
                  <a:schemeClr val="tx1"/>
                </a:solidFill>
                <a:effectLst/>
                <a:latin typeface="+mn-lt"/>
                <a:ea typeface="+mn-ea"/>
                <a:cs typeface="+mn-cs"/>
              </a:rPr>
              <a:t>The activities of the firm value chain result in the “Industry Value Chain” divided into five phases in a continuum in which they operate as, “Suppliers’ Suppliers,” “Suppliers,” “Firm,” “Distributors,” and “Customers.” The continuum is labeled as “Sourcing and Procurement Systems” on its left and as “Customer Relationship Management Systems” on its right.</a:t>
            </a:r>
            <a:endParaRPr lang="en-US" dirty="0">
              <a:effectLst/>
            </a:endParaRPr>
          </a:p>
          <a:p>
            <a:endParaRPr lang="en-US" altLang="en-US" dirty="0">
              <a:latin typeface="Times New Roman" panose="02020603050405020304" pitchFamily="18" charset="0"/>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11</a:t>
            </a:fld>
            <a:endParaRPr lang="en-US" dirty="0"/>
          </a:p>
        </p:txBody>
      </p:sp>
    </p:spTree>
    <p:extLst>
      <p:ext uri="{BB962C8B-B14F-4D97-AF65-F5344CB8AC3E}">
        <p14:creationId xmlns:p14="http://schemas.microsoft.com/office/powerpoint/2010/main" val="34467004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u="sng" dirty="0" smtClean="0"/>
              <a:t>Support Activities:</a:t>
            </a:r>
          </a:p>
          <a:p>
            <a:r>
              <a:rPr lang="en-US" dirty="0" smtClean="0"/>
              <a:t>assist the primary activities by providing the necessary infrastructure, resources, and services that enable the business to function effectively and efficiently.</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14</a:t>
            </a:fld>
            <a:endParaRPr lang="en-US" dirty="0"/>
          </a:p>
        </p:txBody>
      </p:sp>
    </p:spTree>
    <p:extLst>
      <p:ext uri="{BB962C8B-B14F-4D97-AF65-F5344CB8AC3E}">
        <p14:creationId xmlns:p14="http://schemas.microsoft.com/office/powerpoint/2010/main" val="9011071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US" altLang="en-US" dirty="0">
                <a:latin typeface="Times New Roman" panose="02020603050405020304" pitchFamily="18" charset="0"/>
              </a:rPr>
              <a:t>The phenomenon where several firms cooperate with one another in order to put together for the customer a single product or service goes by many names. At times it has been referred to as the extended firm, the virtual firm, the contract firm, and so on. To a large extent, business firms have always been dependent on their suppliers, logistics partners (trucking and railroads), and distributors including retailers. But in the Internet age, this kind of dependence and coordination takes place much more broadly and continuously. A small Internet company often works with a design firm thousands of miles away, a software firm on a different continent, and sells its products using Google</a:t>
            </a:r>
            <a:r>
              <a:rPr lang="en-US" altLang="ja-JP" dirty="0">
                <a:latin typeface="Times New Roman" panose="02020603050405020304" pitchFamily="18" charset="0"/>
              </a:rPr>
              <a:t>'s Ad Word program. The customer receives a single product or service which was co-produced by many firms working together closely.</a:t>
            </a:r>
            <a:endParaRPr lang="en-US" altLang="en-US" dirty="0">
              <a:latin typeface="Times New Roman" panose="02020603050405020304" pitchFamily="18" charset="0"/>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16</a:t>
            </a:fld>
            <a:endParaRPr lang="en-US" dirty="0"/>
          </a:p>
        </p:txBody>
      </p:sp>
    </p:spTree>
    <p:extLst>
      <p:ext uri="{BB962C8B-B14F-4D97-AF65-F5344CB8AC3E}">
        <p14:creationId xmlns:p14="http://schemas.microsoft.com/office/powerpoint/2010/main" val="2076934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defRPr/>
            </a:pPr>
            <a:r>
              <a:rPr lang="en-US" altLang="en-US" dirty="0"/>
              <a:t>Figure 3.3, Page </a:t>
            </a:r>
            <a:r>
              <a:rPr lang="en-US" altLang="en-US" dirty="0">
                <a:solidFill>
                  <a:srgbClr val="FF0000"/>
                </a:solidFill>
              </a:rPr>
              <a:t>90</a:t>
            </a:r>
            <a:r>
              <a:rPr lang="en-US" altLang="en-US" dirty="0"/>
              <a:t>.</a:t>
            </a:r>
          </a:p>
          <a:p>
            <a:pPr lvl="0">
              <a:defRPr/>
            </a:pPr>
            <a:endParaRPr lang="en-US" altLang="en-US" dirty="0"/>
          </a:p>
          <a:p>
            <a:r>
              <a:rPr lang="en-US" i="1" dirty="0">
                <a:ea typeface="Arial"/>
                <a:cs typeface="Arial"/>
                <a:sym typeface="Arial"/>
              </a:rPr>
              <a:t>The value web is a networked system that can synchronize the value chains of business partners within an industry to respond rapidly to changes in supply and demand.</a:t>
            </a:r>
          </a:p>
          <a:p>
            <a:endParaRPr lang="en-US" altLang="en-US" i="1" dirty="0">
              <a:latin typeface="Times New Roman" panose="02020603050405020304" pitchFamily="18" charset="0"/>
              <a:cs typeface="Arial"/>
              <a:sym typeface="Arial"/>
            </a:endParaRPr>
          </a:p>
          <a:p>
            <a:r>
              <a:rPr lang="en-US" sz="1200" b="1" kern="1200" dirty="0">
                <a:solidFill>
                  <a:schemeClr val="tx1"/>
                </a:solidFill>
                <a:effectLst/>
                <a:latin typeface="+mn-lt"/>
                <a:ea typeface="+mn-ea"/>
                <a:cs typeface="+mn-cs"/>
              </a:rPr>
              <a:t>Long Description: </a:t>
            </a:r>
            <a:endParaRPr lang="en-US" dirty="0">
              <a:effectLst/>
            </a:endParaRPr>
          </a:p>
          <a:p>
            <a:r>
              <a:rPr lang="en-US" sz="1200" kern="1200" dirty="0">
                <a:solidFill>
                  <a:schemeClr val="tx1"/>
                </a:solidFill>
                <a:effectLst/>
                <a:latin typeface="+mn-lt"/>
                <a:ea typeface="+mn-ea"/>
                <a:cs typeface="+mn-cs"/>
              </a:rPr>
              <a:t> </a:t>
            </a:r>
            <a:endParaRPr lang="en-US" dirty="0">
              <a:effectLst/>
            </a:endParaRPr>
          </a:p>
          <a:p>
            <a:r>
              <a:rPr lang="en-US" sz="1200" kern="1200" dirty="0">
                <a:solidFill>
                  <a:schemeClr val="tx1"/>
                </a:solidFill>
                <a:effectLst/>
                <a:latin typeface="+mn-lt"/>
                <a:ea typeface="+mn-ea"/>
                <a:cs typeface="+mn-cs"/>
              </a:rPr>
              <a:t>The diagram illustrates the value web as a diverging radial with one circle at the center and four circles arranged around it on the top, right, bottom, and left. A double-headed arrow connects each circle with the circle at the center. The elements labeled in the center circle are “Industry,” “Firms,” “E R P Systems,” and “Core Transaction Systems.” The elements labeled in the right circle are “Customers” and “Customers’ Customers.” The element labeled in the bottom circle is “Indirect Suppliers.” The elements labeled in the left circle are “Suppliers” and “Suppliers’ Suppliers.” The circle on the right and on the bottom share a customer relationship management systems while the circle on the left and on the bottom share a supply chain management systems involving supplier extranets and net marketplaces.</a:t>
            </a:r>
            <a:endParaRPr lang="en-US" dirty="0">
              <a:effectLst/>
            </a:endParaRPr>
          </a:p>
          <a:p>
            <a:endParaRPr lang="en-US" altLang="en-US" dirty="0">
              <a:latin typeface="Times New Roman" panose="02020603050405020304" pitchFamily="18" charset="0"/>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17</a:t>
            </a:fld>
            <a:endParaRPr lang="en-US" dirty="0"/>
          </a:p>
        </p:txBody>
      </p:sp>
    </p:spTree>
    <p:extLst>
      <p:ext uri="{BB962C8B-B14F-4D97-AF65-F5344CB8AC3E}">
        <p14:creationId xmlns:p14="http://schemas.microsoft.com/office/powerpoint/2010/main" val="38494908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value web is a more </a:t>
            </a:r>
            <a:r>
              <a:rPr lang="en-US" b="1" dirty="0" smtClean="0"/>
              <a:t>complex, interconnected</a:t>
            </a:r>
            <a:r>
              <a:rPr lang="en-US" dirty="0" smtClean="0"/>
              <a:t> model where a company’s activities are part of a broader network of </a:t>
            </a:r>
            <a:r>
              <a:rPr lang="en-US" b="1" dirty="0" smtClean="0"/>
              <a:t>collaborations</a:t>
            </a:r>
            <a:r>
              <a:rPr lang="en-US" dirty="0" smtClean="0"/>
              <a:t> and interactions with other organizations (suppliers, partners, customers, etc.)</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18</a:t>
            </a:fld>
            <a:endParaRPr lang="en-US" dirty="0"/>
          </a:p>
        </p:txBody>
      </p:sp>
    </p:spTree>
    <p:extLst>
      <p:ext uri="{BB962C8B-B14F-4D97-AF65-F5344CB8AC3E}">
        <p14:creationId xmlns:p14="http://schemas.microsoft.com/office/powerpoint/2010/main" val="126037506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12/10/2025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11" name="TextBox 10"/>
          <p:cNvSpPr txBox="1"/>
          <p:nvPr userDrawn="1"/>
        </p:nvSpPr>
        <p:spPr>
          <a:xfrm>
            <a:off x="2743200" y="6400800"/>
            <a:ext cx="60960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2021, 2019, 2017</a:t>
            </a:r>
            <a:r>
              <a:rPr lang="en-US" altLang="en-US" sz="1200" b="0" dirty="0">
                <a:latin typeface="Verdana" panose="020B0604030504040204" pitchFamily="34" charset="0"/>
                <a:ea typeface="Verdana" panose="020B0604030504040204" pitchFamily="34" charset="0"/>
                <a:cs typeface="Verdana" panose="020B0604030504040204" pitchFamily="34" charset="0"/>
              </a:rPr>
              <a:t> Pearson Education, Inc. All Rights Reserved.</a:t>
            </a:r>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457200" y="6434394"/>
            <a:ext cx="918000" cy="279915"/>
          </a:xfrm>
          <a:prstGeom prst="rect">
            <a:avLst/>
          </a:prstGeom>
        </p:spPr>
      </p:pic>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pic>
        <p:nvPicPr>
          <p:cNvPr id="15" name="Picture 14" descr="Pearson Logo"/>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453600" y="6434394"/>
            <a:ext cx="918000" cy="279915"/>
          </a:xfrm>
          <a:prstGeom prst="rect">
            <a:avLst/>
          </a:prstGeom>
        </p:spPr>
      </p:pic>
      <p:sp>
        <p:nvSpPr>
          <p:cNvPr id="8" name="Text Placeholder 22"/>
          <p:cNvSpPr>
            <a:spLocks noGrp="1"/>
          </p:cNvSpPr>
          <p:nvPr>
            <p:ph type="body" sz="quarter" idx="16" hasCustomPrompt="1"/>
          </p:nvPr>
        </p:nvSpPr>
        <p:spPr>
          <a:xfrm>
            <a:off x="2834640" y="6400800"/>
            <a:ext cx="5928360" cy="274320"/>
          </a:xfrm>
        </p:spPr>
        <p:txBody>
          <a:bodyPr anchor="ctr"/>
          <a:lstStyle>
            <a:lvl1pPr marL="0" indent="0">
              <a:spcBef>
                <a:spcPts val="0"/>
              </a:spcBef>
              <a:buFontTx/>
              <a:buNone/>
              <a:defRPr sz="1200">
                <a:latin typeface="Verdana" pitchFamily="34" charset="0"/>
                <a:ea typeface="Verdana" pitchFamily="34" charset="0"/>
                <a:cs typeface="Verdana" pitchFamily="34" charset="0"/>
              </a:defRPr>
            </a:lvl1pPr>
          </a:lstStyle>
          <a:p>
            <a:pPr lvl="0"/>
            <a:r>
              <a:rPr lang="en-US" dirty="0"/>
              <a:t>Copyright</a:t>
            </a:r>
          </a:p>
        </p:txBody>
      </p:sp>
    </p:spTree>
    <p:extLst>
      <p:ext uri="{BB962C8B-B14F-4D97-AF65-F5344CB8AC3E}">
        <p14:creationId xmlns:p14="http://schemas.microsoft.com/office/powerpoint/2010/main" val="2981062836"/>
      </p:ext>
    </p:extLst>
  </p:cSld>
  <p:clrMapOvr>
    <a:masterClrMapping/>
  </p:clrMapOvr>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12/10/2025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12/10/2025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12/10/2025</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256032" indent="-256032">
              <a:buClr>
                <a:srgbClr val="007FA3"/>
              </a:buClr>
              <a:buSzPct val="100000"/>
              <a:defRPr sz="2400"/>
            </a:lvl1pPr>
            <a:lvl2pPr marL="740664" indent="-283464">
              <a:buClr>
                <a:srgbClr val="007FA3"/>
              </a:buClr>
              <a:defRPr sz="2200"/>
            </a:lvl2pPr>
            <a:lvl3pPr>
              <a:buClr>
                <a:srgbClr val="007FA3"/>
              </a:buClr>
              <a:defRPr sz="2000"/>
            </a:lvl3pPr>
            <a:lvl4pPr>
              <a:buClr>
                <a:srgbClr val="007FA3"/>
              </a:buClr>
              <a:defRPr sz="18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12/10/2025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6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12/10/2025</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685800" y="6434394"/>
            <a:ext cx="918000" cy="279915"/>
          </a:xfrm>
          <a:prstGeom prst="rect">
            <a:avLst/>
          </a:prstGeom>
        </p:spPr>
      </p:pic>
      <p:sp>
        <p:nvSpPr>
          <p:cNvPr id="9" name="TextBox 8"/>
          <p:cNvSpPr txBox="1"/>
          <p:nvPr userDrawn="1"/>
        </p:nvSpPr>
        <p:spPr>
          <a:xfrm>
            <a:off x="2743200" y="6400800"/>
            <a:ext cx="60960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2017, 2014, 2011</a:t>
            </a:r>
            <a:r>
              <a:rPr lang="en-US" altLang="en-US" sz="1200" b="0" dirty="0">
                <a:latin typeface="Verdana" panose="020B0604030504040204" pitchFamily="34" charset="0"/>
                <a:ea typeface="Verdana" panose="020B0604030504040204" pitchFamily="34" charset="0"/>
                <a:cs typeface="Verdana" panose="020B0604030504040204" pitchFamily="34" charset="0"/>
              </a:rPr>
              <a:t> Pearson Education, Inc. All Rights Reserved.</a:t>
            </a:r>
          </a:p>
        </p:txBody>
      </p:sp>
    </p:spTree>
    <p:extLst>
      <p:ext uri="{BB962C8B-B14F-4D97-AF65-F5344CB8AC3E}">
        <p14:creationId xmlns:p14="http://schemas.microsoft.com/office/powerpoint/2010/main" val="22037960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2400"/>
            </a:lvl1pPr>
            <a:lvl2pPr>
              <a:defRPr sz="2200"/>
            </a:lvl2pPr>
            <a:lvl3pPr>
              <a:defRPr sz="2000"/>
            </a:lvl3pPr>
            <a:lvl4pPr>
              <a:defRPr sz="18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2400"/>
            </a:lvl1pPr>
            <a:lvl2pPr>
              <a:defRPr sz="2200"/>
            </a:lvl2pPr>
            <a:lvl3pPr>
              <a:defRPr sz="2000"/>
            </a:lvl3pPr>
            <a:lvl4pPr>
              <a:defRPr sz="18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12/10/2025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12/10/2025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
        <p:nvSpPr>
          <p:cNvPr id="6" name="Title 7"/>
          <p:cNvSpPr>
            <a:spLocks noGrp="1"/>
          </p:cNvSpPr>
          <p:nvPr>
            <p:ph type="title"/>
          </p:nvPr>
        </p:nvSpPr>
        <p:spPr>
          <a:xfrm>
            <a:off x="457200" y="215372"/>
            <a:ext cx="8229600" cy="1097280"/>
          </a:xfrm>
        </p:spPr>
        <p:txBody>
          <a:bodyPr/>
          <a:lstStyle/>
          <a:p>
            <a:r>
              <a:rPr lang="en-US" dirty="0"/>
              <a:t>Click to edit Master title style</a:t>
            </a:r>
          </a:p>
        </p:txBody>
      </p:sp>
      <p:sp>
        <p:nvSpPr>
          <p:cNvPr id="7" name="Content Placeholder 2"/>
          <p:cNvSpPr>
            <a:spLocks noGrp="1"/>
          </p:cNvSpPr>
          <p:nvPr>
            <p:ph idx="1"/>
          </p:nvPr>
        </p:nvSpPr>
        <p:spPr>
          <a:xfrm>
            <a:off x="457200" y="1600201"/>
            <a:ext cx="8229600" cy="914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p:cNvSpPr>
            <a:spLocks noGrp="1"/>
          </p:cNvSpPr>
          <p:nvPr>
            <p:ph idx="13"/>
          </p:nvPr>
        </p:nvSpPr>
        <p:spPr>
          <a:xfrm>
            <a:off x="457200" y="2667000"/>
            <a:ext cx="3886200" cy="2438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9"/>
          <p:cNvSpPr>
            <a:spLocks noGrp="1"/>
          </p:cNvSpPr>
          <p:nvPr>
            <p:ph type="body" sz="quarter" idx="14"/>
          </p:nvPr>
        </p:nvSpPr>
        <p:spPr>
          <a:xfrm>
            <a:off x="4419600" y="2667000"/>
            <a:ext cx="4267200" cy="2438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6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14" name="Date Placeholder 13"/>
          <p:cNvSpPr>
            <a:spLocks noGrp="1"/>
          </p:cNvSpPr>
          <p:nvPr>
            <p:ph type="dt" sz="half" idx="10"/>
          </p:nvPr>
        </p:nvSpPr>
        <p:spPr/>
        <p:txBody>
          <a:bodyPr/>
          <a:lstStyle/>
          <a:p>
            <a:fld id="{A9DF6EFB-3F44-496C-A842-1E0B3D3B975A}" type="datetimeFigureOut">
              <a:rPr lang="en-US" smtClean="0"/>
              <a:pPr/>
              <a:t>12/10/2025</a:t>
            </a:fld>
            <a:endParaRPr lang="en-US" dirty="0"/>
          </a:p>
        </p:txBody>
      </p:sp>
      <p:sp>
        <p:nvSpPr>
          <p:cNvPr id="15" name="Slide Number Placeholder 14"/>
          <p:cNvSpPr>
            <a:spLocks noGrp="1"/>
          </p:cNvSpPr>
          <p:nvPr>
            <p:ph type="sldNum" sz="quarter" idx="11"/>
          </p:nvPr>
        </p:nvSpPr>
        <p:spPr/>
        <p:txBody>
          <a:bodyPr/>
          <a:lstStyle/>
          <a:p>
            <a:fld id="{200B2350-5261-4F5C-9DF5-EF0D264FC8D2}" type="slidenum">
              <a:rPr lang="en-US" smtClean="0"/>
              <a:pPr/>
              <a:t>‹#›</a:t>
            </a:fld>
            <a:endParaRPr lang="en-US" dirty="0"/>
          </a:p>
        </p:txBody>
      </p:sp>
      <p:sp>
        <p:nvSpPr>
          <p:cNvPr id="16" name="Footer Placeholder 15"/>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pPr/>
              <a:t>12/10/2025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12/10/2025</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997400" y="6434394"/>
            <a:ext cx="918000" cy="279915"/>
          </a:xfrm>
          <a:prstGeom prst="rect">
            <a:avLst/>
          </a:prstGeom>
        </p:spPr>
      </p:pic>
      <p:sp>
        <p:nvSpPr>
          <p:cNvPr id="11" name="TextBox 10"/>
          <p:cNvSpPr txBox="1"/>
          <p:nvPr userDrawn="1"/>
        </p:nvSpPr>
        <p:spPr>
          <a:xfrm>
            <a:off x="95799" y="6438054"/>
            <a:ext cx="71628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2021, 2019, 2017 Pearson Education, Inc. All Rights Reserved.</a:t>
            </a:r>
          </a:p>
        </p:txBody>
      </p:sp>
    </p:spTree>
    <p:extLst>
      <p:ext uri="{BB962C8B-B14F-4D97-AF65-F5344CB8AC3E}">
        <p14:creationId xmlns:p14="http://schemas.microsoft.com/office/powerpoint/2010/main" val="37111366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1_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12/10/2025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457200" y="6434394"/>
            <a:ext cx="918000" cy="279915"/>
          </a:xfrm>
          <a:prstGeom prst="rect">
            <a:avLst/>
          </a:prstGeom>
        </p:spPr>
      </p:pic>
    </p:spTree>
    <p:extLst>
      <p:ext uri="{BB962C8B-B14F-4D97-AF65-F5344CB8AC3E}">
        <p14:creationId xmlns:p14="http://schemas.microsoft.com/office/powerpoint/2010/main" val="1321805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6172200"/>
            <a:ext cx="8595360" cy="235463"/>
          </a:xfrm>
          <a:prstGeom prst="rect">
            <a:avLst/>
          </a:prstGeom>
        </p:spPr>
        <p:txBody>
          <a:bodyPr vert="horz" lIns="0" tIns="0" rIns="0" bIns="0" rtlCol="0" anchor="b"/>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12/10/2025</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sp>
        <p:nvSpPr>
          <p:cNvPr id="8" name="TextBox 7"/>
          <p:cNvSpPr txBox="1"/>
          <p:nvPr userDrawn="1"/>
        </p:nvSpPr>
        <p:spPr>
          <a:xfrm>
            <a:off x="2226578" y="6400800"/>
            <a:ext cx="6553200" cy="276999"/>
          </a:xfrm>
          <a:prstGeom prst="rect">
            <a:avLst/>
          </a:prstGeom>
          <a:noFill/>
        </p:spPr>
        <p:txBody>
          <a:bodyPr wrap="square" rtlCol="0">
            <a:spAutoFit/>
          </a:bodyPr>
          <a:lstStyle/>
          <a:p>
            <a:pPr algn="r">
              <a:buClrTx/>
              <a:defRPr/>
            </a:pPr>
            <a:r>
              <a:rPr lang="en-US" sz="1200" dirty="0">
                <a:latin typeface="Verdana" panose="020B0604030504040204" pitchFamily="34" charset="0"/>
                <a:ea typeface="Verdana" panose="020B0604030504040204" pitchFamily="34" charset="0"/>
                <a:cs typeface="Verdana" panose="020B0604030504040204" pitchFamily="34" charset="0"/>
              </a:rPr>
              <a:t>Copyright © 2020 Pearson Education Ltd.</a:t>
            </a:r>
            <a:endParaRPr lang="en-US" altLang="en-US" sz="1200" dirty="0">
              <a:latin typeface="Verdana" panose="020B0604030504040204" pitchFamily="34" charset="0"/>
              <a:ea typeface="Verdana" panose="020B0604030504040204" pitchFamily="34" charset="0"/>
              <a:cs typeface="Verdana" panose="020B0604030504040204" pitchFamily="34" charset="0"/>
            </a:endParaRPr>
          </a:p>
        </p:txBody>
      </p:sp>
      <p:pic>
        <p:nvPicPr>
          <p:cNvPr id="9" name="Picture 8" descr="Pearson Logo"/>
          <p:cNvPicPr>
            <a:picLocks noChangeAspect="1"/>
          </p:cNvPicPr>
          <p:nvPr userDrawn="1"/>
        </p:nvPicPr>
        <p:blipFill>
          <a:blip r:embed="rId15" cstate="print">
            <a:extLst>
              <a:ext uri="{28A0092B-C50C-407E-A947-70E740481C1C}">
                <a14:useLocalDpi xmlns:a14="http://schemas.microsoft.com/office/drawing/2010/main"/>
              </a:ext>
            </a:extLst>
          </a:blip>
          <a:stretch>
            <a:fillRect/>
          </a:stretch>
        </p:blipFill>
        <p:spPr>
          <a:xfrm>
            <a:off x="457200" y="6434394"/>
            <a:ext cx="918000" cy="279915"/>
          </a:xfrm>
          <a:prstGeom prst="rect">
            <a:avLst/>
          </a:prstGeom>
        </p:spPr>
      </p:pic>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61" r:id="rId3"/>
    <p:sldLayoutId id="2147483656" r:id="rId4"/>
    <p:sldLayoutId id="2147483650" r:id="rId5"/>
    <p:sldLayoutId id="2147483659" r:id="rId6"/>
    <p:sldLayoutId id="2147483658" r:id="rId7"/>
    <p:sldLayoutId id="2147483660" r:id="rId8"/>
    <p:sldLayoutId id="2147483662" r:id="rId9"/>
    <p:sldLayoutId id="2147483651" r:id="rId10"/>
    <p:sldLayoutId id="2147483654" r:id="rId11"/>
    <p:sldLayoutId id="2147483655" r:id="rId12"/>
    <p:sldLayoutId id="2147483663" r:id="rId13"/>
  </p:sldLayoutIdLst>
  <p:txStyles>
    <p:titleStyle>
      <a:lvl1pPr algn="l" defTabSz="914400" rtl="0" eaLnBrk="1" latinLnBrk="0" hangingPunct="1">
        <a:lnSpc>
          <a:spcPct val="100000"/>
        </a:lnSpc>
        <a:spcBef>
          <a:spcPct val="0"/>
        </a:spcBef>
        <a:buNone/>
        <a:defRPr sz="3600" b="1" kern="1200">
          <a:solidFill>
            <a:srgbClr val="007FA3"/>
          </a:solidFill>
          <a:latin typeface="+mj-lt"/>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24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5275"/>
            <a:ext cx="8229600" cy="1107996"/>
          </a:xfrm>
        </p:spPr>
        <p:txBody>
          <a:bodyPr wrap="square" anchor="b">
            <a:spAutoFit/>
          </a:bodyPr>
          <a:lstStyle/>
          <a:p>
            <a:r>
              <a:rPr lang="en-IN" dirty="0"/>
              <a:t>Essentials of Management Information Systems</a:t>
            </a:r>
            <a:endParaRPr lang="en-IN" sz="3600" dirty="0">
              <a:latin typeface="+mj-lt"/>
            </a:endParaRPr>
          </a:p>
        </p:txBody>
      </p:sp>
      <p:sp>
        <p:nvSpPr>
          <p:cNvPr id="3" name="Text Placeholder 2"/>
          <p:cNvSpPr>
            <a:spLocks noGrp="1"/>
          </p:cNvSpPr>
          <p:nvPr>
            <p:ph type="body" sz="quarter" idx="13"/>
          </p:nvPr>
        </p:nvSpPr>
        <p:spPr>
          <a:xfrm>
            <a:off x="457200" y="1269455"/>
            <a:ext cx="8229600" cy="307777"/>
          </a:xfrm>
        </p:spPr>
        <p:txBody>
          <a:bodyPr vert="horz" lIns="0" tIns="0" rIns="0" bIns="0" rtlCol="0" anchor="t">
            <a:spAutoFit/>
          </a:bodyPr>
          <a:lstStyle/>
          <a:p>
            <a:r>
              <a:rPr lang="en-IN" dirty="0"/>
              <a:t>Fourteenth Edition, Global Edition</a:t>
            </a:r>
          </a:p>
        </p:txBody>
      </p:sp>
      <p:sp>
        <p:nvSpPr>
          <p:cNvPr id="4" name="Text Placeholder 3"/>
          <p:cNvSpPr>
            <a:spLocks noGrp="1"/>
          </p:cNvSpPr>
          <p:nvPr>
            <p:ph type="body" sz="quarter" idx="14"/>
          </p:nvPr>
        </p:nvSpPr>
        <p:spPr>
          <a:xfrm>
            <a:off x="4569034" y="2792478"/>
            <a:ext cx="4117765" cy="492443"/>
          </a:xfrm>
        </p:spPr>
        <p:txBody>
          <a:bodyPr wrap="square">
            <a:spAutoFit/>
          </a:bodyPr>
          <a:lstStyle/>
          <a:p>
            <a:r>
              <a:rPr lang="en-IN" sz="3200" dirty="0"/>
              <a:t>Chapter 3</a:t>
            </a:r>
          </a:p>
        </p:txBody>
      </p:sp>
      <p:sp>
        <p:nvSpPr>
          <p:cNvPr id="5" name="Text Placeholder 4"/>
          <p:cNvSpPr>
            <a:spLocks noGrp="1"/>
          </p:cNvSpPr>
          <p:nvPr>
            <p:ph type="body" sz="quarter" idx="15"/>
          </p:nvPr>
        </p:nvSpPr>
        <p:spPr>
          <a:xfrm>
            <a:off x="4569034" y="3429000"/>
            <a:ext cx="4117765" cy="615553"/>
          </a:xfrm>
        </p:spPr>
        <p:txBody>
          <a:bodyPr wrap="square">
            <a:spAutoFit/>
          </a:bodyPr>
          <a:lstStyle/>
          <a:p>
            <a:r>
              <a:rPr lang="en-IN" altLang="en-US" sz="2000" dirty="0"/>
              <a:t>Achieving Competitive Advantage with Information Systems</a:t>
            </a:r>
          </a:p>
        </p:txBody>
      </p:sp>
      <p:sp>
        <p:nvSpPr>
          <p:cNvPr id="11" name="Text Placeholder 3"/>
          <p:cNvSpPr>
            <a:spLocks noGrp="1"/>
          </p:cNvSpPr>
          <p:nvPr>
            <p:ph type="body" sz="quarter" idx="14"/>
          </p:nvPr>
        </p:nvSpPr>
        <p:spPr>
          <a:xfrm>
            <a:off x="2309414" y="6444733"/>
            <a:ext cx="6385810" cy="184666"/>
          </a:xfrm>
        </p:spPr>
        <p:txBody>
          <a:bodyPr>
            <a:spAutoFit/>
          </a:bodyPr>
          <a:lstStyle/>
          <a:p>
            <a:pPr algn="r">
              <a:buClrTx/>
              <a:defRPr/>
            </a:pPr>
            <a:r>
              <a:rPr lang="en-US" sz="1200" dirty="0">
                <a:latin typeface="Verdana" panose="020B0604030504040204" pitchFamily="34" charset="0"/>
                <a:ea typeface="Verdana" panose="020B0604030504040204" pitchFamily="34" charset="0"/>
                <a:cs typeface="Verdana" panose="020B0604030504040204" pitchFamily="34" charset="0"/>
              </a:rPr>
              <a:t>Copyright © 2020 Pearson Education Ltd.</a:t>
            </a:r>
            <a:endParaRPr lang="en-US" altLang="en-US" sz="1200" dirty="0">
              <a:latin typeface="Verdana" panose="020B0604030504040204" pitchFamily="34" charset="0"/>
              <a:ea typeface="Verdana" panose="020B0604030504040204" pitchFamily="34" charset="0"/>
              <a:cs typeface="Verdana" panose="020B0604030504040204" pitchFamily="34" charset="0"/>
            </a:endParaRPr>
          </a:p>
        </p:txBody>
      </p:sp>
      <p:pic>
        <p:nvPicPr>
          <p:cNvPr id="9" name="Picture 8" descr="Essentials of Management Information Systems Fourteenth Edition, GE by Kenneth C Laudon and Jane P Laudon">
            <a:extLst>
              <a:ext uri="{FF2B5EF4-FFF2-40B4-BE49-F238E27FC236}">
                <a16:creationId xmlns="" xmlns:a16="http://schemas.microsoft.com/office/drawing/2014/main" id="{A41CC2DC-2D14-4F48-8985-A234296DF99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824" y="1746005"/>
            <a:ext cx="3384176" cy="4211972"/>
          </a:xfrm>
          <a:prstGeom prst="rect">
            <a:avLst/>
          </a:prstGeom>
        </p:spPr>
      </p:pic>
    </p:spTree>
    <p:extLst>
      <p:ext uri="{BB962C8B-B14F-4D97-AF65-F5344CB8AC3E}">
        <p14:creationId xmlns:p14="http://schemas.microsoft.com/office/powerpoint/2010/main" val="25021209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53846"/>
            <a:ext cx="8229600" cy="553998"/>
          </a:xfrm>
        </p:spPr>
        <p:txBody>
          <a:bodyPr>
            <a:spAutoFit/>
          </a:bodyPr>
          <a:lstStyle/>
          <a:p>
            <a:r>
              <a:rPr lang="en-US" altLang="en-US" dirty="0"/>
              <a:t>Porter’s Competitive Forces Model</a:t>
            </a:r>
            <a:endParaRPr lang="en-US" sz="2800" dirty="0"/>
          </a:p>
        </p:txBody>
      </p:sp>
      <p:sp>
        <p:nvSpPr>
          <p:cNvPr id="5" name="Content Placeholder 4"/>
          <p:cNvSpPr>
            <a:spLocks noGrp="1"/>
          </p:cNvSpPr>
          <p:nvPr>
            <p:ph idx="1"/>
          </p:nvPr>
        </p:nvSpPr>
        <p:spPr>
          <a:xfrm>
            <a:off x="457200" y="1295392"/>
            <a:ext cx="8229600" cy="2446824"/>
          </a:xfrm>
        </p:spPr>
        <p:txBody>
          <a:bodyPr>
            <a:spAutoFit/>
          </a:bodyPr>
          <a:lstStyle/>
          <a:p>
            <a:pPr indent="-255600"/>
            <a:r>
              <a:rPr lang="en-IN" dirty="0"/>
              <a:t>Five competitive forces shape fate of firm</a:t>
            </a:r>
          </a:p>
          <a:p>
            <a:pPr lvl="1" indent="-255600"/>
            <a:r>
              <a:rPr lang="en-IN" dirty="0"/>
              <a:t>Traditional competitors</a:t>
            </a:r>
          </a:p>
          <a:p>
            <a:pPr lvl="1" indent="-255600"/>
            <a:r>
              <a:rPr lang="en-IN" dirty="0"/>
              <a:t>New market entrants</a:t>
            </a:r>
          </a:p>
          <a:p>
            <a:pPr lvl="1" indent="-255600"/>
            <a:r>
              <a:rPr lang="en-IN" dirty="0"/>
              <a:t>Substitute products and services</a:t>
            </a:r>
          </a:p>
          <a:p>
            <a:pPr lvl="1" indent="-255600"/>
            <a:r>
              <a:rPr lang="en-IN" dirty="0"/>
              <a:t>Customers</a:t>
            </a:r>
          </a:p>
          <a:p>
            <a:pPr lvl="1" indent="-255600"/>
            <a:r>
              <a:rPr lang="en-IN" dirty="0"/>
              <a:t>Suppliers</a:t>
            </a:r>
          </a:p>
        </p:txBody>
      </p:sp>
    </p:spTree>
    <p:extLst>
      <p:ext uri="{BB962C8B-B14F-4D97-AF65-F5344CB8AC3E}">
        <p14:creationId xmlns:p14="http://schemas.microsoft.com/office/powerpoint/2010/main" val="303461244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66725" y="444579"/>
            <a:ext cx="8229600" cy="1107996"/>
          </a:xfrm>
        </p:spPr>
        <p:txBody>
          <a:bodyPr>
            <a:spAutoFit/>
          </a:bodyPr>
          <a:lstStyle/>
          <a:p>
            <a:r>
              <a:rPr lang="fr-FR" altLang="en-US" dirty="0"/>
              <a:t>Figure 3.1 Porter’s Competitive Forces Model</a:t>
            </a:r>
            <a:endParaRPr lang="en-US" sz="2800" dirty="0"/>
          </a:p>
        </p:txBody>
      </p:sp>
      <p:pic>
        <p:nvPicPr>
          <p:cNvPr id="5" name="Picture 4" descr="Short Description:  A diagram illustrates Porter’s competitive forces model. For full description see Notes. Press F6.&#10;"/>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511192" y="1829871"/>
            <a:ext cx="8095919" cy="3641054"/>
          </a:xfrm>
          <a:prstGeom prst="rect">
            <a:avLst/>
          </a:prstGeom>
        </p:spPr>
      </p:pic>
    </p:spTree>
    <p:extLst>
      <p:ext uri="{BB962C8B-B14F-4D97-AF65-F5344CB8AC3E}">
        <p14:creationId xmlns:p14="http://schemas.microsoft.com/office/powerpoint/2010/main" val="425488076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42317"/>
            <a:ext cx="8229600" cy="1538883"/>
          </a:xfrm>
        </p:spPr>
        <p:txBody>
          <a:bodyPr>
            <a:spAutoFit/>
          </a:bodyPr>
          <a:lstStyle/>
          <a:p>
            <a:r>
              <a:rPr lang="en-IN" altLang="en-US" dirty="0"/>
              <a:t>Information System Strategies for Dealing with Competitive Forces        </a:t>
            </a:r>
            <a:r>
              <a:rPr lang="en-IN" altLang="en-US" sz="2800" dirty="0"/>
              <a:t>(1 of 5)</a:t>
            </a:r>
            <a:endParaRPr lang="en-US" sz="2800" dirty="0"/>
          </a:p>
        </p:txBody>
      </p:sp>
      <p:sp>
        <p:nvSpPr>
          <p:cNvPr id="5" name="Content Placeholder 4"/>
          <p:cNvSpPr>
            <a:spLocks noGrp="1"/>
          </p:cNvSpPr>
          <p:nvPr>
            <p:ph idx="1"/>
          </p:nvPr>
        </p:nvSpPr>
        <p:spPr>
          <a:xfrm>
            <a:off x="457200" y="2363956"/>
            <a:ext cx="8229600" cy="2446824"/>
          </a:xfrm>
        </p:spPr>
        <p:txBody>
          <a:bodyPr>
            <a:spAutoFit/>
          </a:bodyPr>
          <a:lstStyle/>
          <a:p>
            <a:r>
              <a:rPr lang="en-IN" altLang="en-US" dirty="0"/>
              <a:t>Basic strategy: Align </a:t>
            </a:r>
            <a:r>
              <a:rPr lang="en-IN" altLang="en-US" spc="-300" dirty="0">
                <a:cs typeface="Arial"/>
              </a:rPr>
              <a:t>I T</a:t>
            </a:r>
            <a:r>
              <a:rPr lang="en-IN" altLang="en-US" dirty="0"/>
              <a:t> with business objectives</a:t>
            </a:r>
          </a:p>
          <a:p>
            <a:pPr lvl="1"/>
            <a:r>
              <a:rPr lang="en-IN" altLang="en-US" dirty="0"/>
              <a:t>Identify business goals and strategies</a:t>
            </a:r>
          </a:p>
          <a:p>
            <a:pPr lvl="1"/>
            <a:r>
              <a:rPr lang="en-IN" altLang="en-US" dirty="0"/>
              <a:t>Break strategic goals into concrete activities and processes</a:t>
            </a:r>
          </a:p>
          <a:p>
            <a:pPr lvl="1"/>
            <a:r>
              <a:rPr lang="en-IN" altLang="en-US" dirty="0"/>
              <a:t>Identify metrics for measuring progress</a:t>
            </a:r>
          </a:p>
          <a:p>
            <a:pPr lvl="1"/>
            <a:r>
              <a:rPr lang="en-IN" altLang="en-US" dirty="0"/>
              <a:t>Determine how </a:t>
            </a:r>
            <a:r>
              <a:rPr lang="en-IN" altLang="en-US" spc="-300" dirty="0">
                <a:cs typeface="Arial"/>
              </a:rPr>
              <a:t>I T</a:t>
            </a:r>
            <a:r>
              <a:rPr lang="en-IN" altLang="en-US" dirty="0"/>
              <a:t> can help achieve business goals</a:t>
            </a:r>
          </a:p>
          <a:p>
            <a:pPr lvl="1"/>
            <a:r>
              <a:rPr lang="en-IN" altLang="en-US" dirty="0"/>
              <a:t>Measure actual performance</a:t>
            </a:r>
          </a:p>
        </p:txBody>
      </p:sp>
    </p:spTree>
    <p:extLst>
      <p:ext uri="{BB962C8B-B14F-4D97-AF65-F5344CB8AC3E}">
        <p14:creationId xmlns:p14="http://schemas.microsoft.com/office/powerpoint/2010/main" val="267565269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42317"/>
            <a:ext cx="8229600" cy="1538883"/>
          </a:xfrm>
        </p:spPr>
        <p:txBody>
          <a:bodyPr>
            <a:spAutoFit/>
          </a:bodyPr>
          <a:lstStyle/>
          <a:p>
            <a:r>
              <a:rPr lang="en-IN" altLang="en-US" dirty="0"/>
              <a:t>Information System Strategies for Dealing with Competitive Forces        </a:t>
            </a:r>
            <a:r>
              <a:rPr lang="en-IN" altLang="en-US" sz="2800" dirty="0"/>
              <a:t>(2 of 5)</a:t>
            </a:r>
            <a:endParaRPr lang="en-US" sz="2800" dirty="0"/>
          </a:p>
        </p:txBody>
      </p:sp>
      <p:sp>
        <p:nvSpPr>
          <p:cNvPr id="5" name="Content Placeholder 4"/>
          <p:cNvSpPr>
            <a:spLocks noGrp="1"/>
          </p:cNvSpPr>
          <p:nvPr>
            <p:ph idx="1"/>
          </p:nvPr>
        </p:nvSpPr>
        <p:spPr>
          <a:xfrm>
            <a:off x="457200" y="2362200"/>
            <a:ext cx="8229600" cy="3154710"/>
          </a:xfrm>
        </p:spPr>
        <p:txBody>
          <a:bodyPr>
            <a:spAutoFit/>
          </a:bodyPr>
          <a:lstStyle/>
          <a:p>
            <a:r>
              <a:rPr lang="en-IN" altLang="en-US" dirty="0"/>
              <a:t>Low-cost leadership</a:t>
            </a:r>
          </a:p>
          <a:p>
            <a:pPr lvl="1"/>
            <a:r>
              <a:rPr lang="en-IN" altLang="en-US" dirty="0"/>
              <a:t>Use information systems to achieve the lowest operational costs and the lowest prices</a:t>
            </a:r>
          </a:p>
          <a:p>
            <a:pPr lvl="1"/>
            <a:r>
              <a:rPr lang="en-IN" altLang="en-US" sz="2400" dirty="0"/>
              <a:t>E.g. Walmart</a:t>
            </a:r>
          </a:p>
          <a:p>
            <a:pPr lvl="2"/>
            <a:r>
              <a:rPr lang="en-IN" altLang="en-US" sz="2200" dirty="0"/>
              <a:t>Inventory replenishment system sends orders to suppliers when purchase recorded at cash register</a:t>
            </a:r>
          </a:p>
          <a:p>
            <a:pPr lvl="2"/>
            <a:r>
              <a:rPr lang="en-IN" altLang="en-US" sz="2200" dirty="0"/>
              <a:t>Minimizes inventory at warehouses, operating costs</a:t>
            </a:r>
          </a:p>
          <a:p>
            <a:pPr lvl="2"/>
            <a:r>
              <a:rPr lang="en-IN" altLang="en-US" sz="2200" dirty="0"/>
              <a:t>Efficient customer response system</a:t>
            </a:r>
          </a:p>
        </p:txBody>
      </p:sp>
    </p:spTree>
    <p:extLst>
      <p:ext uri="{BB962C8B-B14F-4D97-AF65-F5344CB8AC3E}">
        <p14:creationId xmlns:p14="http://schemas.microsoft.com/office/powerpoint/2010/main" val="79471743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42317"/>
            <a:ext cx="8229600" cy="1538883"/>
          </a:xfrm>
        </p:spPr>
        <p:txBody>
          <a:bodyPr>
            <a:spAutoFit/>
          </a:bodyPr>
          <a:lstStyle/>
          <a:p>
            <a:r>
              <a:rPr lang="en-IN" altLang="en-US" dirty="0"/>
              <a:t>Information System Strategies for Dealing with Competitive Forces         </a:t>
            </a:r>
            <a:r>
              <a:rPr lang="en-IN" altLang="en-US" sz="2800" dirty="0"/>
              <a:t>(3 of 5)</a:t>
            </a:r>
            <a:endParaRPr lang="en-US" sz="2800" dirty="0"/>
          </a:p>
        </p:txBody>
      </p:sp>
      <p:sp>
        <p:nvSpPr>
          <p:cNvPr id="5" name="Content Placeholder 4"/>
          <p:cNvSpPr>
            <a:spLocks noGrp="1"/>
          </p:cNvSpPr>
          <p:nvPr>
            <p:ph idx="1"/>
          </p:nvPr>
        </p:nvSpPr>
        <p:spPr>
          <a:xfrm>
            <a:off x="457200" y="2362200"/>
            <a:ext cx="8229600" cy="3016210"/>
          </a:xfrm>
        </p:spPr>
        <p:txBody>
          <a:bodyPr>
            <a:spAutoFit/>
          </a:bodyPr>
          <a:lstStyle/>
          <a:p>
            <a:r>
              <a:rPr lang="en-IN" altLang="en-US" dirty="0"/>
              <a:t>Product differentiation</a:t>
            </a:r>
          </a:p>
          <a:p>
            <a:pPr lvl="1"/>
            <a:r>
              <a:rPr lang="en-IN" altLang="en-US" dirty="0"/>
              <a:t>Use information systems to enable new products and services, or greatly change the customer convenience in using your existing products and services</a:t>
            </a:r>
          </a:p>
          <a:p>
            <a:pPr lvl="1"/>
            <a:r>
              <a:rPr lang="en-IN" altLang="en-US" dirty="0"/>
              <a:t>E.g., Google's continuous innovations, Apple's </a:t>
            </a:r>
            <a:r>
              <a:rPr lang="en-IN" altLang="en-US" spc="-250" dirty="0"/>
              <a:t>i P</a:t>
            </a:r>
            <a:r>
              <a:rPr lang="en-IN" altLang="en-US" dirty="0"/>
              <a:t>hone</a:t>
            </a:r>
          </a:p>
          <a:p>
            <a:pPr lvl="1"/>
            <a:r>
              <a:rPr lang="en-IN" altLang="en-US" dirty="0"/>
              <a:t>Use information systems to customize, personalize products to fit specifications of individual consumers</a:t>
            </a:r>
          </a:p>
          <a:p>
            <a:pPr lvl="2"/>
            <a:r>
              <a:rPr lang="en-IN" altLang="en-US" dirty="0"/>
              <a:t>E.g., Nike's </a:t>
            </a:r>
            <a:r>
              <a:rPr lang="en-IN" altLang="en-US" dirty="0">
                <a:cs typeface="Arial"/>
              </a:rPr>
              <a:t>NIKE</a:t>
            </a:r>
            <a:r>
              <a:rPr lang="en-IN" altLang="en-US" spc="-300" dirty="0">
                <a:cs typeface="Arial"/>
              </a:rPr>
              <a:t> i D</a:t>
            </a:r>
            <a:r>
              <a:rPr lang="en-IN" altLang="en-US" dirty="0"/>
              <a:t> program for customized sneakers</a:t>
            </a:r>
          </a:p>
        </p:txBody>
      </p:sp>
    </p:spTree>
    <p:extLst>
      <p:ext uri="{BB962C8B-B14F-4D97-AF65-F5344CB8AC3E}">
        <p14:creationId xmlns:p14="http://schemas.microsoft.com/office/powerpoint/2010/main" val="60596724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42317"/>
            <a:ext cx="8229600" cy="1538883"/>
          </a:xfrm>
        </p:spPr>
        <p:txBody>
          <a:bodyPr>
            <a:spAutoFit/>
          </a:bodyPr>
          <a:lstStyle/>
          <a:p>
            <a:r>
              <a:rPr lang="en-IN" altLang="en-US" dirty="0"/>
              <a:t>Information System Strategies for Dealing with Competitive Forces       </a:t>
            </a:r>
            <a:r>
              <a:rPr lang="en-IN" altLang="en-US" sz="2800" dirty="0"/>
              <a:t>(4 of 5)</a:t>
            </a:r>
            <a:endParaRPr lang="en-US" sz="2800" dirty="0"/>
          </a:p>
        </p:txBody>
      </p:sp>
      <p:sp>
        <p:nvSpPr>
          <p:cNvPr id="5" name="Content Placeholder 4"/>
          <p:cNvSpPr>
            <a:spLocks noGrp="1"/>
          </p:cNvSpPr>
          <p:nvPr>
            <p:ph idx="1"/>
          </p:nvPr>
        </p:nvSpPr>
        <p:spPr>
          <a:xfrm>
            <a:off x="457200" y="2286000"/>
            <a:ext cx="8229600" cy="3031599"/>
          </a:xfrm>
        </p:spPr>
        <p:txBody>
          <a:bodyPr>
            <a:spAutoFit/>
          </a:bodyPr>
          <a:lstStyle/>
          <a:p>
            <a:r>
              <a:rPr lang="en-IN" altLang="en-US" dirty="0"/>
              <a:t>Focus on market niche</a:t>
            </a:r>
          </a:p>
          <a:p>
            <a:pPr lvl="1"/>
            <a:r>
              <a:rPr lang="en-IN" altLang="en-US" dirty="0"/>
              <a:t>Use information systems to enable specific market focus, and serve narrow target market better than competitors</a:t>
            </a:r>
            <a:r>
              <a:rPr lang="en-IN" altLang="en-US" sz="2400" dirty="0"/>
              <a:t>.</a:t>
            </a:r>
          </a:p>
          <a:p>
            <a:pPr lvl="2"/>
            <a:r>
              <a:rPr lang="en-IN" altLang="en-US" dirty="0"/>
              <a:t>Analyzes customer buying habits, preferences</a:t>
            </a:r>
          </a:p>
          <a:p>
            <a:pPr lvl="2"/>
            <a:r>
              <a:rPr lang="en-IN" altLang="en-US" dirty="0"/>
              <a:t>Advertising pitches to smaller and smaller target markets</a:t>
            </a:r>
          </a:p>
          <a:p>
            <a:pPr lvl="1"/>
            <a:r>
              <a:rPr lang="en-IN" altLang="en-US" dirty="0"/>
              <a:t>E.g., Hilton Hotel’s </a:t>
            </a:r>
            <a:r>
              <a:rPr lang="en-IN" altLang="en-US" dirty="0">
                <a:cs typeface="Arial"/>
              </a:rPr>
              <a:t>On Q</a:t>
            </a:r>
            <a:r>
              <a:rPr lang="en-IN" altLang="en-US" dirty="0"/>
              <a:t> System</a:t>
            </a:r>
          </a:p>
          <a:p>
            <a:pPr lvl="2"/>
            <a:r>
              <a:rPr lang="en-IN" altLang="en-US" dirty="0"/>
              <a:t>Analyzes data collected on guests to determine preferences and guest's profitability</a:t>
            </a:r>
          </a:p>
        </p:txBody>
      </p:sp>
    </p:spTree>
    <p:extLst>
      <p:ext uri="{BB962C8B-B14F-4D97-AF65-F5344CB8AC3E}">
        <p14:creationId xmlns:p14="http://schemas.microsoft.com/office/powerpoint/2010/main" val="395098195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42317"/>
            <a:ext cx="8229600" cy="1538883"/>
          </a:xfrm>
        </p:spPr>
        <p:txBody>
          <a:bodyPr>
            <a:spAutoFit/>
          </a:bodyPr>
          <a:lstStyle/>
          <a:p>
            <a:r>
              <a:rPr lang="en-IN" altLang="en-US" dirty="0"/>
              <a:t>Information System Strategies for Dealing with Competitive Forces       </a:t>
            </a:r>
            <a:r>
              <a:rPr lang="en-IN" altLang="en-US" sz="2800" dirty="0"/>
              <a:t>(5 of 5)</a:t>
            </a:r>
            <a:endParaRPr lang="en-US" sz="2800" dirty="0"/>
          </a:p>
        </p:txBody>
      </p:sp>
      <p:sp>
        <p:nvSpPr>
          <p:cNvPr id="5" name="Content Placeholder 4"/>
          <p:cNvSpPr>
            <a:spLocks noGrp="1"/>
          </p:cNvSpPr>
          <p:nvPr>
            <p:ph idx="1"/>
          </p:nvPr>
        </p:nvSpPr>
        <p:spPr>
          <a:xfrm>
            <a:off x="457200" y="2286000"/>
            <a:ext cx="8229600" cy="3323987"/>
          </a:xfrm>
        </p:spPr>
        <p:txBody>
          <a:bodyPr>
            <a:spAutoFit/>
          </a:bodyPr>
          <a:lstStyle/>
          <a:p>
            <a:r>
              <a:rPr lang="en-IN" altLang="en-US" dirty="0"/>
              <a:t>Strengthen customer and supplier intimacy.</a:t>
            </a:r>
          </a:p>
          <a:p>
            <a:pPr lvl="1"/>
            <a:r>
              <a:rPr lang="en-IN" altLang="en-US" dirty="0"/>
              <a:t>Strong linkages to customers and suppliers increase switching costs and loyalty</a:t>
            </a:r>
          </a:p>
          <a:p>
            <a:pPr lvl="1"/>
            <a:r>
              <a:rPr lang="en-IN" altLang="en-US" dirty="0"/>
              <a:t>Toyota: uses </a:t>
            </a:r>
            <a:r>
              <a:rPr lang="en-IN" altLang="en-US" spc="-300" dirty="0">
                <a:cs typeface="Arial"/>
              </a:rPr>
              <a:t>I S</a:t>
            </a:r>
            <a:r>
              <a:rPr lang="en-IN" altLang="en-US" dirty="0"/>
              <a:t> to facilitate direct access from suppliers to production schedules</a:t>
            </a:r>
          </a:p>
          <a:p>
            <a:pPr lvl="2"/>
            <a:r>
              <a:rPr lang="en-IN" altLang="en-US" dirty="0"/>
              <a:t>Permits suppliers to decide how and when to ship supplies to plants, allowing more lead time in producing goods</a:t>
            </a:r>
          </a:p>
          <a:p>
            <a:pPr lvl="1"/>
            <a:r>
              <a:rPr lang="en-IN" altLang="en-US" dirty="0"/>
              <a:t>Amazon: keeps track of user preferences for purchases, and recommends titles purchased by others</a:t>
            </a:r>
          </a:p>
        </p:txBody>
      </p:sp>
    </p:spTree>
    <p:extLst>
      <p:ext uri="{BB962C8B-B14F-4D97-AF65-F5344CB8AC3E}">
        <p14:creationId xmlns:p14="http://schemas.microsoft.com/office/powerpoint/2010/main" val="374650745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42773"/>
            <a:ext cx="8229600" cy="1107996"/>
          </a:xfrm>
        </p:spPr>
        <p:txBody>
          <a:bodyPr>
            <a:spAutoFit/>
          </a:bodyPr>
          <a:lstStyle/>
          <a:p>
            <a:r>
              <a:rPr lang="en-IN" altLang="en-US" dirty="0"/>
              <a:t>The Internet’s Impact on Competitive Advantage</a:t>
            </a:r>
            <a:endParaRPr lang="en-US" sz="2800" dirty="0"/>
          </a:p>
        </p:txBody>
      </p:sp>
      <p:sp>
        <p:nvSpPr>
          <p:cNvPr id="5" name="Content Placeholder 4"/>
          <p:cNvSpPr>
            <a:spLocks noGrp="1"/>
          </p:cNvSpPr>
          <p:nvPr>
            <p:ph idx="1"/>
          </p:nvPr>
        </p:nvSpPr>
        <p:spPr>
          <a:xfrm>
            <a:off x="457200" y="1828800"/>
            <a:ext cx="8229600" cy="4108817"/>
          </a:xfrm>
        </p:spPr>
        <p:txBody>
          <a:bodyPr>
            <a:spAutoFit/>
          </a:bodyPr>
          <a:lstStyle/>
          <a:p>
            <a:pPr indent="-255600"/>
            <a:r>
              <a:rPr lang="en-IN" dirty="0"/>
              <a:t>Enables new products and services</a:t>
            </a:r>
          </a:p>
          <a:p>
            <a:pPr indent="-255600"/>
            <a:r>
              <a:rPr lang="en-IN" dirty="0"/>
              <a:t>Encourages substitute products</a:t>
            </a:r>
          </a:p>
          <a:p>
            <a:pPr indent="-255600"/>
            <a:r>
              <a:rPr lang="en-IN" dirty="0"/>
              <a:t>Lowers barrier to entry</a:t>
            </a:r>
          </a:p>
          <a:p>
            <a:pPr indent="-255600"/>
            <a:r>
              <a:rPr lang="en-IN" dirty="0"/>
              <a:t>Changes balance of power of customers and suppliers</a:t>
            </a:r>
          </a:p>
          <a:p>
            <a:pPr indent="-255600"/>
            <a:r>
              <a:rPr lang="en-IN" dirty="0"/>
              <a:t>Transforms some industries</a:t>
            </a:r>
          </a:p>
          <a:p>
            <a:pPr indent="-255600"/>
            <a:r>
              <a:rPr lang="en-IN" dirty="0"/>
              <a:t>Creates new opportunities for creating new markets, building brands, and large customer bases</a:t>
            </a:r>
          </a:p>
          <a:p>
            <a:pPr indent="-255600"/>
            <a:r>
              <a:rPr lang="en-IN" dirty="0"/>
              <a:t>Smart products and the Internet of Things</a:t>
            </a:r>
          </a:p>
        </p:txBody>
      </p:sp>
    </p:spTree>
    <p:extLst>
      <p:ext uri="{BB962C8B-B14F-4D97-AF65-F5344CB8AC3E}">
        <p14:creationId xmlns:p14="http://schemas.microsoft.com/office/powerpoint/2010/main" val="392454706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53846"/>
            <a:ext cx="8229600" cy="553998"/>
          </a:xfrm>
        </p:spPr>
        <p:txBody>
          <a:bodyPr>
            <a:spAutoFit/>
          </a:bodyPr>
          <a:lstStyle/>
          <a:p>
            <a:r>
              <a:rPr lang="en-IN" altLang="en-US" dirty="0"/>
              <a:t>The Business Value Chain Model</a:t>
            </a:r>
            <a:endParaRPr lang="en-US" sz="2800" dirty="0"/>
          </a:p>
        </p:txBody>
      </p:sp>
      <p:sp>
        <p:nvSpPr>
          <p:cNvPr id="5" name="Content Placeholder 4"/>
          <p:cNvSpPr>
            <a:spLocks noGrp="1"/>
          </p:cNvSpPr>
          <p:nvPr>
            <p:ph idx="1"/>
          </p:nvPr>
        </p:nvSpPr>
        <p:spPr>
          <a:xfrm>
            <a:off x="457200" y="1295392"/>
            <a:ext cx="8229600" cy="2769989"/>
          </a:xfrm>
        </p:spPr>
        <p:txBody>
          <a:bodyPr>
            <a:spAutoFit/>
          </a:bodyPr>
          <a:lstStyle/>
          <a:p>
            <a:pPr indent="-255600"/>
            <a:r>
              <a:rPr lang="en-IN" dirty="0"/>
              <a:t>Highlights specific activities in a business where competitive strategies can best be applied and where information systems are likely to have a strategic impact.</a:t>
            </a:r>
          </a:p>
          <a:p>
            <a:pPr lvl="1" indent="-255600"/>
            <a:r>
              <a:rPr lang="en-IN" dirty="0"/>
              <a:t>Primary activities</a:t>
            </a:r>
          </a:p>
          <a:p>
            <a:pPr lvl="1" indent="-255600"/>
            <a:r>
              <a:rPr lang="en-IN" dirty="0"/>
              <a:t>Support activities</a:t>
            </a:r>
          </a:p>
          <a:p>
            <a:pPr lvl="1" indent="-255600"/>
            <a:r>
              <a:rPr lang="en-IN" dirty="0"/>
              <a:t>Benchmarking</a:t>
            </a:r>
          </a:p>
          <a:p>
            <a:pPr lvl="1" indent="-255600"/>
            <a:r>
              <a:rPr lang="en-IN" dirty="0"/>
              <a:t>Best practices</a:t>
            </a:r>
          </a:p>
        </p:txBody>
      </p:sp>
    </p:spTree>
    <p:extLst>
      <p:ext uri="{BB962C8B-B14F-4D97-AF65-F5344CB8AC3E}">
        <p14:creationId xmlns:p14="http://schemas.microsoft.com/office/powerpoint/2010/main" val="415926000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66725" y="455652"/>
            <a:ext cx="8229600" cy="553998"/>
          </a:xfrm>
        </p:spPr>
        <p:txBody>
          <a:bodyPr>
            <a:spAutoFit/>
          </a:bodyPr>
          <a:lstStyle/>
          <a:p>
            <a:r>
              <a:rPr lang="en-IN" altLang="en-US" dirty="0"/>
              <a:t>Figure 3.2 The Value Chain Model</a:t>
            </a:r>
            <a:endParaRPr lang="en-US" sz="2800" dirty="0"/>
          </a:p>
        </p:txBody>
      </p:sp>
      <p:pic>
        <p:nvPicPr>
          <p:cNvPr id="6" name="Picture 5" descr="Short Description: A diagram illustrates the value chain model. For full description see Notes. Press F6.&#10;"/>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268802" y="1185168"/>
            <a:ext cx="6606397" cy="5199230"/>
          </a:xfrm>
          <a:prstGeom prst="rect">
            <a:avLst/>
          </a:prstGeom>
        </p:spPr>
      </p:pic>
    </p:spTree>
    <p:extLst>
      <p:ext uri="{BB962C8B-B14F-4D97-AF65-F5344CB8AC3E}">
        <p14:creationId xmlns:p14="http://schemas.microsoft.com/office/powerpoint/2010/main" val="312454599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dirty="0"/>
              <a:t>The Value Chain Model</a:t>
            </a:r>
            <a:endParaRPr lang="en-US" dirty="0"/>
          </a:p>
        </p:txBody>
      </p:sp>
      <p:sp>
        <p:nvSpPr>
          <p:cNvPr id="3" name="Content Placeholder 2"/>
          <p:cNvSpPr>
            <a:spLocks noGrp="1"/>
          </p:cNvSpPr>
          <p:nvPr>
            <p:ph idx="1"/>
          </p:nvPr>
        </p:nvSpPr>
        <p:spPr/>
        <p:txBody>
          <a:bodyPr/>
          <a:lstStyle/>
          <a:p>
            <a:r>
              <a:rPr lang="en-US" dirty="0"/>
              <a:t>The value chain model, developed by Michael Porter, outlines how a company creates value through various activities. It helps identify the primary and support activities that contribute to a firm's competitive advantage. </a:t>
            </a:r>
            <a:endParaRPr lang="en-US" dirty="0" smtClean="0"/>
          </a:p>
          <a:p>
            <a:r>
              <a:rPr lang="en-US" dirty="0"/>
              <a:t>This model is a useful framework for strategic planning and can help organizations optimize their operations to enhance profitability and competitiveness. </a:t>
            </a:r>
          </a:p>
        </p:txBody>
      </p:sp>
    </p:spTree>
    <p:extLst>
      <p:ext uri="{BB962C8B-B14F-4D97-AF65-F5344CB8AC3E}">
        <p14:creationId xmlns:p14="http://schemas.microsoft.com/office/powerpoint/2010/main" val="315746324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dirty="0"/>
              <a:t>The Value Chain Model</a:t>
            </a:r>
            <a:endParaRPr lang="en-US" dirty="0"/>
          </a:p>
        </p:txBody>
      </p:sp>
      <p:sp>
        <p:nvSpPr>
          <p:cNvPr id="3" name="Content Placeholder 2"/>
          <p:cNvSpPr>
            <a:spLocks noGrp="1"/>
          </p:cNvSpPr>
          <p:nvPr>
            <p:ph idx="1"/>
          </p:nvPr>
        </p:nvSpPr>
        <p:spPr/>
        <p:txBody>
          <a:bodyPr/>
          <a:lstStyle/>
          <a:p>
            <a:r>
              <a:rPr lang="en-US" dirty="0"/>
              <a:t>Primary Activities</a:t>
            </a:r>
          </a:p>
          <a:p>
            <a:r>
              <a:rPr lang="en-US" sz="2000" dirty="0" smtClean="0"/>
              <a:t>1.</a:t>
            </a:r>
            <a:r>
              <a:rPr lang="en-US" sz="2000" b="1" dirty="0" smtClean="0"/>
              <a:t>Inbound </a:t>
            </a:r>
            <a:r>
              <a:rPr lang="en-US" sz="2000" b="1" dirty="0"/>
              <a:t>Logistics</a:t>
            </a:r>
            <a:r>
              <a:rPr lang="en-US" sz="2000" dirty="0"/>
              <a:t>: Receiving, warehousing, and inventory management of raw materials.</a:t>
            </a:r>
          </a:p>
          <a:p>
            <a:r>
              <a:rPr lang="en-US" sz="2000" b="1" dirty="0" smtClean="0"/>
              <a:t>2.Operations</a:t>
            </a:r>
            <a:r>
              <a:rPr lang="en-US" sz="2000" dirty="0"/>
              <a:t>: Processes that transform inputs into final products or services.</a:t>
            </a:r>
          </a:p>
          <a:p>
            <a:r>
              <a:rPr lang="en-US" sz="2000" b="1" dirty="0" smtClean="0"/>
              <a:t>3.Outbound</a:t>
            </a:r>
            <a:r>
              <a:rPr lang="en-US" sz="2000" dirty="0" smtClean="0"/>
              <a:t> </a:t>
            </a:r>
            <a:r>
              <a:rPr lang="en-US" sz="2000" dirty="0"/>
              <a:t>Logistics: Activities required to get the finished product to customers, including storage and order fulfillment.</a:t>
            </a:r>
          </a:p>
          <a:p>
            <a:r>
              <a:rPr lang="en-US" sz="2000" b="1" dirty="0" smtClean="0"/>
              <a:t>4.Marketing </a:t>
            </a:r>
            <a:r>
              <a:rPr lang="en-US" sz="2000" b="1" dirty="0"/>
              <a:t>and Sales</a:t>
            </a:r>
            <a:r>
              <a:rPr lang="en-US" sz="2000" dirty="0"/>
              <a:t>: Strategies and activities to promote and sell the product.</a:t>
            </a:r>
          </a:p>
          <a:p>
            <a:r>
              <a:rPr lang="en-US" sz="2000" b="1" dirty="0" smtClean="0"/>
              <a:t>5.Service</a:t>
            </a:r>
            <a:r>
              <a:rPr lang="en-US" sz="2000" dirty="0"/>
              <a:t>: Activities related to maintaining and enhancing the product's value post-sale, such as customer support.</a:t>
            </a:r>
          </a:p>
          <a:p>
            <a:endParaRPr lang="en-US" dirty="0"/>
          </a:p>
        </p:txBody>
      </p:sp>
    </p:spTree>
    <p:extLst>
      <p:ext uri="{BB962C8B-B14F-4D97-AF65-F5344CB8AC3E}">
        <p14:creationId xmlns:p14="http://schemas.microsoft.com/office/powerpoint/2010/main" val="403992372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dirty="0"/>
              <a:t>The Value Chain Model</a:t>
            </a:r>
            <a:endParaRPr lang="en-US" dirty="0"/>
          </a:p>
        </p:txBody>
      </p:sp>
      <p:sp>
        <p:nvSpPr>
          <p:cNvPr id="3" name="Content Placeholder 2"/>
          <p:cNvSpPr>
            <a:spLocks noGrp="1"/>
          </p:cNvSpPr>
          <p:nvPr>
            <p:ph idx="1"/>
          </p:nvPr>
        </p:nvSpPr>
        <p:spPr/>
        <p:txBody>
          <a:bodyPr/>
          <a:lstStyle/>
          <a:p>
            <a:r>
              <a:rPr lang="en-US" dirty="0"/>
              <a:t>Support Activities</a:t>
            </a:r>
          </a:p>
          <a:p>
            <a:r>
              <a:rPr lang="en-US" dirty="0" smtClean="0"/>
              <a:t>1.</a:t>
            </a:r>
            <a:r>
              <a:rPr lang="en-US" b="1" dirty="0" smtClean="0"/>
              <a:t>Firm </a:t>
            </a:r>
            <a:r>
              <a:rPr lang="en-US" b="1" dirty="0"/>
              <a:t>Infrastructure</a:t>
            </a:r>
            <a:r>
              <a:rPr lang="en-US" dirty="0"/>
              <a:t>: Organizational structure, management, planning, and control </a:t>
            </a:r>
            <a:r>
              <a:rPr lang="en-US" dirty="0" smtClean="0"/>
              <a:t>systems(</a:t>
            </a:r>
            <a:r>
              <a:rPr lang="en-US" dirty="0"/>
              <a:t>It's the overall support structure needed to manage the business.</a:t>
            </a:r>
            <a:r>
              <a:rPr lang="en-US" dirty="0" smtClean="0"/>
              <a:t>).</a:t>
            </a:r>
            <a:endParaRPr lang="en-US" dirty="0"/>
          </a:p>
          <a:p>
            <a:r>
              <a:rPr lang="en-US" b="1" dirty="0" smtClean="0"/>
              <a:t>2.Human </a:t>
            </a:r>
            <a:r>
              <a:rPr lang="en-US" b="1" dirty="0"/>
              <a:t>Resource Management</a:t>
            </a:r>
            <a:r>
              <a:rPr lang="en-US" dirty="0"/>
              <a:t>: Recruitment, hiring, training, and development of personnel.</a:t>
            </a:r>
          </a:p>
          <a:p>
            <a:r>
              <a:rPr lang="en-US" b="1" dirty="0" smtClean="0"/>
              <a:t>3.Technology </a:t>
            </a:r>
            <a:r>
              <a:rPr lang="en-US" b="1" dirty="0"/>
              <a:t>Development</a:t>
            </a:r>
            <a:r>
              <a:rPr lang="en-US" dirty="0"/>
              <a:t>: Research and development, process automation, and product design.</a:t>
            </a:r>
          </a:p>
          <a:p>
            <a:r>
              <a:rPr lang="en-US" dirty="0" smtClean="0"/>
              <a:t>4.</a:t>
            </a:r>
            <a:r>
              <a:rPr lang="en-US" b="1" dirty="0" smtClean="0"/>
              <a:t>Procurement</a:t>
            </a:r>
            <a:r>
              <a:rPr lang="en-US" dirty="0"/>
              <a:t>: Acquiring goods and services needed for the company's operations.</a:t>
            </a:r>
          </a:p>
          <a:p>
            <a:endParaRPr lang="en-US" dirty="0"/>
          </a:p>
        </p:txBody>
      </p:sp>
    </p:spTree>
    <p:extLst>
      <p:ext uri="{BB962C8B-B14F-4D97-AF65-F5344CB8AC3E}">
        <p14:creationId xmlns:p14="http://schemas.microsoft.com/office/powerpoint/2010/main" val="14658948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dirty="0"/>
              <a:t>The Value Chain Model</a:t>
            </a:r>
            <a:endParaRPr lang="en-US" dirty="0"/>
          </a:p>
        </p:txBody>
      </p:sp>
      <p:sp>
        <p:nvSpPr>
          <p:cNvPr id="3" name="Content Placeholder 2"/>
          <p:cNvSpPr>
            <a:spLocks noGrp="1"/>
          </p:cNvSpPr>
          <p:nvPr>
            <p:ph idx="1"/>
          </p:nvPr>
        </p:nvSpPr>
        <p:spPr/>
        <p:txBody>
          <a:bodyPr/>
          <a:lstStyle/>
          <a:p>
            <a:r>
              <a:rPr lang="en-US" b="1" dirty="0" smtClean="0"/>
              <a:t>Use cases for  </a:t>
            </a:r>
            <a:r>
              <a:rPr lang="en-US" b="1" dirty="0"/>
              <a:t>the Value Chain Model</a:t>
            </a:r>
            <a:endParaRPr lang="en-US" dirty="0"/>
          </a:p>
          <a:p>
            <a:pPr marL="457200" lvl="0" indent="-457200">
              <a:buFont typeface="+mj-lt"/>
              <a:buAutoNum type="arabicPeriod"/>
            </a:pPr>
            <a:r>
              <a:rPr lang="en-US" b="1" dirty="0"/>
              <a:t>Identify Competitive Advantage</a:t>
            </a:r>
            <a:r>
              <a:rPr lang="en-US" dirty="0"/>
              <a:t>: Analyze which activities provide the most value and differentiate the firm from competitors.</a:t>
            </a:r>
          </a:p>
          <a:p>
            <a:pPr marL="457200" lvl="0" indent="-457200">
              <a:buFont typeface="+mj-lt"/>
              <a:buAutoNum type="arabicPeriod"/>
            </a:pPr>
            <a:r>
              <a:rPr lang="en-US" b="1" dirty="0"/>
              <a:t>Cost Analysis</a:t>
            </a:r>
            <a:r>
              <a:rPr lang="en-US" dirty="0"/>
              <a:t>: Determine where costs can be reduced without sacrificing quality.</a:t>
            </a:r>
          </a:p>
          <a:p>
            <a:pPr marL="457200" lvl="0" indent="-457200">
              <a:buFont typeface="+mj-lt"/>
              <a:buAutoNum type="arabicPeriod"/>
            </a:pPr>
            <a:r>
              <a:rPr lang="en-US" b="1" dirty="0"/>
              <a:t>Improve Efficiency</a:t>
            </a:r>
            <a:r>
              <a:rPr lang="en-US" dirty="0"/>
              <a:t>: Streamline operations and processes for better performance.</a:t>
            </a:r>
          </a:p>
          <a:p>
            <a:pPr marL="457200" lvl="0" indent="-457200">
              <a:buFont typeface="+mj-lt"/>
              <a:buAutoNum type="arabicPeriod"/>
            </a:pPr>
            <a:r>
              <a:rPr lang="en-US" b="1" dirty="0"/>
              <a:t>Enhance Customer Value</a:t>
            </a:r>
            <a:r>
              <a:rPr lang="en-US" dirty="0"/>
              <a:t>: Focus on activities that improve customer satisfaction and loyalty.</a:t>
            </a:r>
          </a:p>
          <a:p>
            <a:endParaRPr lang="en-US" dirty="0"/>
          </a:p>
        </p:txBody>
      </p:sp>
    </p:spTree>
    <p:extLst>
      <p:ext uri="{BB962C8B-B14F-4D97-AF65-F5344CB8AC3E}">
        <p14:creationId xmlns:p14="http://schemas.microsoft.com/office/powerpoint/2010/main" val="286350832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53846"/>
            <a:ext cx="8229600" cy="553998"/>
          </a:xfrm>
        </p:spPr>
        <p:txBody>
          <a:bodyPr>
            <a:spAutoFit/>
          </a:bodyPr>
          <a:lstStyle/>
          <a:p>
            <a:r>
              <a:rPr lang="en-IN" altLang="en-US" dirty="0"/>
              <a:t>The Value Web</a:t>
            </a:r>
            <a:endParaRPr lang="en-US" sz="2800" dirty="0"/>
          </a:p>
        </p:txBody>
      </p:sp>
      <p:sp>
        <p:nvSpPr>
          <p:cNvPr id="5" name="Content Placeholder 4"/>
          <p:cNvSpPr>
            <a:spLocks noGrp="1"/>
          </p:cNvSpPr>
          <p:nvPr>
            <p:ph idx="1"/>
          </p:nvPr>
        </p:nvSpPr>
        <p:spPr>
          <a:xfrm>
            <a:off x="457200" y="1295392"/>
            <a:ext cx="8229600" cy="3147015"/>
          </a:xfrm>
        </p:spPr>
        <p:txBody>
          <a:bodyPr>
            <a:spAutoFit/>
          </a:bodyPr>
          <a:lstStyle/>
          <a:p>
            <a:pPr indent="-255600"/>
            <a:r>
              <a:rPr lang="en-IN" dirty="0"/>
              <a:t>A firm’s value chain is linked to the value chains of its suppliers, distributors, and customers.</a:t>
            </a:r>
          </a:p>
          <a:p>
            <a:pPr indent="-255600"/>
            <a:r>
              <a:rPr lang="en-IN" dirty="0"/>
              <a:t>Value web</a:t>
            </a:r>
          </a:p>
          <a:p>
            <a:pPr lvl="1" indent="-255600"/>
            <a:r>
              <a:rPr lang="en-IN" dirty="0"/>
              <a:t>Collection of independent firms that use information technology to coordinate their value chains to produce a product collectively</a:t>
            </a:r>
          </a:p>
          <a:p>
            <a:pPr lvl="1" indent="-255600"/>
            <a:r>
              <a:rPr lang="en-IN" dirty="0"/>
              <a:t>Value webs are flexible and adapt to changes in supply and demand</a:t>
            </a:r>
          </a:p>
        </p:txBody>
      </p:sp>
    </p:spTree>
    <p:extLst>
      <p:ext uri="{BB962C8B-B14F-4D97-AF65-F5344CB8AC3E}">
        <p14:creationId xmlns:p14="http://schemas.microsoft.com/office/powerpoint/2010/main" val="286044993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descr="Short Description: A radial diagram illustrates the value web. For full description see Notes. Press F6.&#10;"/>
          <p:cNvSpPr>
            <a:spLocks noGrp="1"/>
          </p:cNvSpPr>
          <p:nvPr>
            <p:ph type="title"/>
          </p:nvPr>
        </p:nvSpPr>
        <p:spPr>
          <a:xfrm>
            <a:off x="466725" y="455652"/>
            <a:ext cx="8229600" cy="553998"/>
          </a:xfrm>
        </p:spPr>
        <p:txBody>
          <a:bodyPr>
            <a:spAutoFit/>
          </a:bodyPr>
          <a:lstStyle/>
          <a:p>
            <a:r>
              <a:rPr lang="en-IN" altLang="en-US" dirty="0"/>
              <a:t>Figure 3.3 The Value Web</a:t>
            </a:r>
            <a:endParaRPr lang="en-US" sz="2800" dirty="0"/>
          </a:p>
        </p:txBody>
      </p:sp>
      <p:pic>
        <p:nvPicPr>
          <p:cNvPr id="5" name="Picture 4" descr="Short Description: A radial diagram illustrates the value web. For full description see Notes. Press F6.&#10;"/>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924084" y="1113748"/>
            <a:ext cx="5295830" cy="5260874"/>
          </a:xfrm>
          <a:prstGeom prst="rect">
            <a:avLst/>
          </a:prstGeom>
        </p:spPr>
      </p:pic>
    </p:spTree>
    <p:extLst>
      <p:ext uri="{BB962C8B-B14F-4D97-AF65-F5344CB8AC3E}">
        <p14:creationId xmlns:p14="http://schemas.microsoft.com/office/powerpoint/2010/main" val="225424964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Value chain vs value web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224627337"/>
              </p:ext>
            </p:extLst>
          </p:nvPr>
        </p:nvGraphicFramePr>
        <p:xfrm>
          <a:off x="228600" y="1525875"/>
          <a:ext cx="8686800" cy="4250085"/>
        </p:xfrm>
        <a:graphic>
          <a:graphicData uri="http://schemas.openxmlformats.org/drawingml/2006/table">
            <a:tbl>
              <a:tblPr firstRow="1" bandRow="1">
                <a:tableStyleId>{7E9639D4-E3E2-4D34-9284-5A2195B3D0D7}</a:tableStyleId>
              </a:tblPr>
              <a:tblGrid>
                <a:gridCol w="1295400"/>
                <a:gridCol w="3810000"/>
                <a:gridCol w="3581400"/>
              </a:tblGrid>
              <a:tr h="377659">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r>
                        <a:rPr lang="en-US" dirty="0"/>
                        <a:t>Value Chain Model</a:t>
                      </a:r>
                    </a:p>
                  </a:txBody>
                  <a:tcPr anchor="ctr"/>
                </a:tc>
                <a:tc>
                  <a:txBody>
                    <a:bodyPr/>
                    <a:lstStyle/>
                    <a:p>
                      <a:r>
                        <a:rPr lang="en-US" dirty="0"/>
                        <a:t>Value Web</a:t>
                      </a:r>
                    </a:p>
                  </a:txBody>
                  <a:tcPr anchor="ctr"/>
                </a:tc>
              </a:tr>
              <a:tr h="1769306">
                <a:tc>
                  <a:txBody>
                    <a:bodyPr/>
                    <a:lstStyle/>
                    <a:p>
                      <a:r>
                        <a:rPr lang="en-US" dirty="0" smtClean="0"/>
                        <a:t>Definition</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t>A linear framework outlining the sequence of activities that create value within an organization.</a:t>
                      </a:r>
                      <a:endParaRPr lang="en-US" dirty="0">
                        <a:latin typeface="Times New Roman" panose="02020603050405020304" pitchFamily="18" charset="0"/>
                        <a:cs typeface="Times New Roman" panose="02020603050405020304" pitchFamily="18" charset="0"/>
                      </a:endParaRPr>
                    </a:p>
                  </a:txBody>
                  <a:tcPr anchor="ctr"/>
                </a:tc>
                <a:tc>
                  <a:txBody>
                    <a:bodyPr/>
                    <a:lstStyle/>
                    <a:p>
                      <a:r>
                        <a:rPr lang="en-US" dirty="0"/>
                        <a:t>A dynamic network of interconnected organizations, individuals, and processes that collaboratively create value.</a:t>
                      </a:r>
                      <a:endParaRPr lang="en-US" dirty="0">
                        <a:latin typeface="Times New Roman" panose="02020603050405020304" pitchFamily="18" charset="0"/>
                        <a:cs typeface="Times New Roman" panose="02020603050405020304" pitchFamily="18" charset="0"/>
                      </a:endParaRPr>
                    </a:p>
                  </a:txBody>
                  <a:tcPr anchor="ctr"/>
                </a:tc>
              </a:tr>
              <a:tr h="377659">
                <a:tc>
                  <a:txBody>
                    <a:bodyPr/>
                    <a:lstStyle/>
                    <a:p>
                      <a:r>
                        <a:rPr lang="en-US" dirty="0" smtClean="0"/>
                        <a:t>Structure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t>Linear and sequential, often visualized as a chain of activities from inbound logistics to service.</a:t>
                      </a:r>
                    </a:p>
                  </a:txBody>
                  <a:tcPr anchor="ctr"/>
                </a:tc>
                <a:tc>
                  <a:txBody>
                    <a:bodyPr/>
                    <a:lstStyle/>
                    <a:p>
                      <a:r>
                        <a:rPr lang="en-US" dirty="0"/>
                        <a:t>Non-linear and networked, emphasizing collaboration and interdependencies among multiple stakeholders.</a:t>
                      </a:r>
                    </a:p>
                  </a:txBody>
                  <a:tcPr anchor="ctr"/>
                </a:tc>
              </a:tr>
              <a:tr h="377659">
                <a:tc>
                  <a:txBody>
                    <a:bodyPr/>
                    <a:lstStyle/>
                    <a:p>
                      <a:r>
                        <a:rPr lang="en-US" dirty="0" smtClean="0"/>
                        <a:t>Focus</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t>Internal processes and efficiencies to optimize value creation.</a:t>
                      </a:r>
                    </a:p>
                  </a:txBody>
                  <a:tcPr anchor="ctr"/>
                </a:tc>
                <a:tc>
                  <a:txBody>
                    <a:bodyPr/>
                    <a:lstStyle/>
                    <a:p>
                      <a:r>
                        <a:rPr lang="en-US" dirty="0"/>
                        <a:t>External collaboration, customer involvement, and adaptability to market changes.</a:t>
                      </a:r>
                    </a:p>
                  </a:txBody>
                  <a:tcPr anchor="ctr"/>
                </a:tc>
              </a:tr>
            </a:tbl>
          </a:graphicData>
        </a:graphic>
      </p:graphicFrame>
    </p:spTree>
    <p:extLst>
      <p:ext uri="{BB962C8B-B14F-4D97-AF65-F5344CB8AC3E}">
        <p14:creationId xmlns:p14="http://schemas.microsoft.com/office/powerpoint/2010/main" val="210297208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097280"/>
          </a:xfrm>
        </p:spPr>
        <p:txBody>
          <a:bodyPr/>
          <a:lstStyle/>
          <a:p>
            <a:pPr algn="ctr"/>
            <a:r>
              <a:rPr lang="en-US" dirty="0" smtClean="0"/>
              <a:t>Value chain vs value web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545774515"/>
              </p:ext>
            </p:extLst>
          </p:nvPr>
        </p:nvGraphicFramePr>
        <p:xfrm>
          <a:off x="152400" y="1066800"/>
          <a:ext cx="8888730" cy="5271165"/>
        </p:xfrm>
        <a:graphic>
          <a:graphicData uri="http://schemas.openxmlformats.org/drawingml/2006/table">
            <a:tbl>
              <a:tblPr firstRow="1" bandRow="1">
                <a:tableStyleId>{7E9639D4-E3E2-4D34-9284-5A2195B3D0D7}</a:tableStyleId>
              </a:tblPr>
              <a:tblGrid>
                <a:gridCol w="1573530"/>
                <a:gridCol w="3733800"/>
                <a:gridCol w="3581400"/>
              </a:tblGrid>
              <a:tr h="377659">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r>
                        <a:rPr lang="en-US" dirty="0"/>
                        <a:t>Value Chain Model</a:t>
                      </a:r>
                    </a:p>
                  </a:txBody>
                  <a:tcPr anchor="ctr"/>
                </a:tc>
                <a:tc>
                  <a:txBody>
                    <a:bodyPr/>
                    <a:lstStyle/>
                    <a:p>
                      <a:r>
                        <a:rPr lang="en-US" dirty="0"/>
                        <a:t>Value Web</a:t>
                      </a:r>
                    </a:p>
                  </a:txBody>
                  <a:tcPr anchor="ctr"/>
                </a:tc>
              </a:tr>
              <a:tr h="1601666">
                <a:tc>
                  <a:txBody>
                    <a:bodyPr/>
                    <a:lstStyle/>
                    <a:p>
                      <a:r>
                        <a:rPr lang="en-US" dirty="0" smtClean="0"/>
                        <a:t>Stakeholders</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t>Primarily focused on the organization and its direct operations (suppliers, operations, etc.).</a:t>
                      </a:r>
                    </a:p>
                  </a:txBody>
                  <a:tcPr anchor="ctr"/>
                </a:tc>
                <a:tc>
                  <a:txBody>
                    <a:bodyPr/>
                    <a:lstStyle/>
                    <a:p>
                      <a:r>
                        <a:rPr lang="en-US" dirty="0"/>
                        <a:t>Includes a wide range of stakeholders: suppliers, partners, customers, and even competitors in collaborative networks.</a:t>
                      </a:r>
                    </a:p>
                  </a:txBody>
                  <a:tcPr anchor="ctr"/>
                </a:tc>
              </a:tr>
              <a:tr h="377659">
                <a:tc>
                  <a:txBody>
                    <a:bodyPr/>
                    <a:lstStyle/>
                    <a:p>
                      <a:r>
                        <a:rPr lang="en-US" dirty="0" smtClean="0"/>
                        <a:t>Flexibility</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t>Generally more rigid due to its sequential nature; changes require re-evaluation of the entire chain.</a:t>
                      </a:r>
                    </a:p>
                  </a:txBody>
                  <a:tcPr anchor="ctr"/>
                </a:tc>
                <a:tc>
                  <a:txBody>
                    <a:bodyPr/>
                    <a:lstStyle/>
                    <a:p>
                      <a:r>
                        <a:rPr lang="en-US" dirty="0"/>
                        <a:t>Highly flexible, allowing for quick adaptation to changing market conditions and new partnerships.</a:t>
                      </a:r>
                    </a:p>
                  </a:txBody>
                  <a:tcPr anchor="ctr"/>
                </a:tc>
              </a:tr>
              <a:tr h="377659">
                <a:tc>
                  <a:txBody>
                    <a:bodyPr/>
                    <a:lstStyle/>
                    <a:p>
                      <a:r>
                        <a:rPr lang="en-US" b="0" dirty="0"/>
                        <a:t>Technology Role</a:t>
                      </a:r>
                    </a:p>
                  </a:txBody>
                  <a:tcPr anchor="ctr"/>
                </a:tc>
                <a:tc>
                  <a:txBody>
                    <a:bodyPr/>
                    <a:lstStyle/>
                    <a:p>
                      <a:r>
                        <a:rPr lang="en-US" dirty="0"/>
                        <a:t>Technology supports operational efficiencies and process improvements within the chain.</a:t>
                      </a:r>
                    </a:p>
                  </a:txBody>
                  <a:tcPr anchor="ctr"/>
                </a:tc>
                <a:tc>
                  <a:txBody>
                    <a:bodyPr/>
                    <a:lstStyle/>
                    <a:p>
                      <a:r>
                        <a:rPr lang="en-US" dirty="0"/>
                        <a:t>Technology enables real-time communication, collaboration, and data sharing across the network.</a:t>
                      </a:r>
                    </a:p>
                  </a:txBody>
                  <a:tcPr anchor="ctr"/>
                </a:tc>
              </a:tr>
              <a:tr h="377659">
                <a:tc>
                  <a:txBody>
                    <a:bodyPr/>
                    <a:lstStyle/>
                    <a:p>
                      <a:r>
                        <a:rPr lang="en-US" b="0" dirty="0"/>
                        <a:t>Customer Involvement</a:t>
                      </a:r>
                    </a:p>
                  </a:txBody>
                  <a:tcPr anchor="ctr"/>
                </a:tc>
                <a:tc>
                  <a:txBody>
                    <a:bodyPr/>
                    <a:lstStyle/>
                    <a:p>
                      <a:r>
                        <a:rPr lang="en-US" dirty="0"/>
                        <a:t>Customers are typically considered at the end of the chain (post-sale service).</a:t>
                      </a:r>
                    </a:p>
                  </a:txBody>
                  <a:tcPr anchor="ctr"/>
                </a:tc>
                <a:tc>
                  <a:txBody>
                    <a:bodyPr/>
                    <a:lstStyle/>
                    <a:p>
                      <a:r>
                        <a:rPr lang="en-US" dirty="0"/>
                        <a:t>Customers are actively involved throughout the value creation process, providing feedback and insights.</a:t>
                      </a:r>
                    </a:p>
                  </a:txBody>
                  <a:tcPr anchor="ctr"/>
                </a:tc>
              </a:tr>
            </a:tbl>
          </a:graphicData>
        </a:graphic>
      </p:graphicFrame>
    </p:spTree>
    <p:extLst>
      <p:ext uri="{BB962C8B-B14F-4D97-AF65-F5344CB8AC3E}">
        <p14:creationId xmlns:p14="http://schemas.microsoft.com/office/powerpoint/2010/main" val="336987690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097280"/>
          </a:xfrm>
        </p:spPr>
        <p:txBody>
          <a:bodyPr/>
          <a:lstStyle/>
          <a:p>
            <a:pPr algn="ctr"/>
            <a:r>
              <a:rPr lang="en-US" dirty="0" smtClean="0"/>
              <a:t>Value chain vs value web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183710883"/>
              </p:ext>
            </p:extLst>
          </p:nvPr>
        </p:nvGraphicFramePr>
        <p:xfrm>
          <a:off x="152400" y="1066800"/>
          <a:ext cx="8888730" cy="2893725"/>
        </p:xfrm>
        <a:graphic>
          <a:graphicData uri="http://schemas.openxmlformats.org/drawingml/2006/table">
            <a:tbl>
              <a:tblPr firstRow="1" bandRow="1">
                <a:tableStyleId>{7E9639D4-E3E2-4D34-9284-5A2195B3D0D7}</a:tableStyleId>
              </a:tblPr>
              <a:tblGrid>
                <a:gridCol w="1573530"/>
                <a:gridCol w="3733800"/>
                <a:gridCol w="3581400"/>
              </a:tblGrid>
              <a:tr h="377659">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r>
                        <a:rPr lang="en-US" dirty="0"/>
                        <a:t>Value Chain Model</a:t>
                      </a:r>
                    </a:p>
                  </a:txBody>
                  <a:tcPr anchor="ctr"/>
                </a:tc>
                <a:tc>
                  <a:txBody>
                    <a:bodyPr/>
                    <a:lstStyle/>
                    <a:p>
                      <a:r>
                        <a:rPr lang="en-US" dirty="0"/>
                        <a:t>Value Web</a:t>
                      </a:r>
                    </a:p>
                  </a:txBody>
                  <a:tcPr anchor="ctr"/>
                </a:tc>
              </a:tr>
              <a:tr h="1601666">
                <a:tc>
                  <a:txBody>
                    <a:bodyPr/>
                    <a:lstStyle/>
                    <a:p>
                      <a:r>
                        <a:rPr lang="en-US" dirty="0" smtClean="0"/>
                        <a:t>Innovation</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t>Focuses on improving existing processes for efficiency.</a:t>
                      </a:r>
                    </a:p>
                  </a:txBody>
                  <a:tcPr anchor="ctr"/>
                </a:tc>
                <a:tc>
                  <a:txBody>
                    <a:bodyPr/>
                    <a:lstStyle/>
                    <a:p>
                      <a:r>
                        <a:rPr lang="en-US" dirty="0"/>
                        <a:t>Encourages co-innovation through collaboration and shared knowledge among stakeholders.</a:t>
                      </a:r>
                    </a:p>
                  </a:txBody>
                  <a:tcPr anchor="ctr"/>
                </a:tc>
              </a:tr>
              <a:tr h="377659">
                <a:tc>
                  <a:txBody>
                    <a:bodyPr/>
                    <a:lstStyle/>
                    <a:p>
                      <a:r>
                        <a:rPr lang="en-US" dirty="0" smtClean="0"/>
                        <a:t>Examples</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t>Manufacturing processes, traditional supply chains.</a:t>
                      </a:r>
                    </a:p>
                  </a:txBody>
                  <a:tcPr anchor="ctr"/>
                </a:tc>
                <a:tc>
                  <a:txBody>
                    <a:bodyPr/>
                    <a:lstStyle/>
                    <a:p>
                      <a:r>
                        <a:rPr lang="en-US" dirty="0"/>
                        <a:t>Platforms like Amazon, where suppliers, distributors, and customers interact dynamically.</a:t>
                      </a:r>
                    </a:p>
                  </a:txBody>
                  <a:tcPr anchor="ctr"/>
                </a:tc>
              </a:tr>
            </a:tbl>
          </a:graphicData>
        </a:graphic>
      </p:graphicFrame>
    </p:spTree>
    <p:extLst>
      <p:ext uri="{BB962C8B-B14F-4D97-AF65-F5344CB8AC3E}">
        <p14:creationId xmlns:p14="http://schemas.microsoft.com/office/powerpoint/2010/main" val="2382512356"/>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77bb34d93a4c6de111706773da7e89128aa"/>
</p:tagLst>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5712</TotalTime>
  <Words>2180</Words>
  <Application>Microsoft Office PowerPoint</Application>
  <PresentationFormat>On-screen Show (4:3)</PresentationFormat>
  <Paragraphs>198</Paragraphs>
  <Slides>20</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Times New Roman</vt:lpstr>
      <vt:lpstr>Verdana</vt:lpstr>
      <vt:lpstr>Wingdings</vt:lpstr>
      <vt:lpstr>508 Lecture</vt:lpstr>
      <vt:lpstr>Essentials of Management Information Systems</vt:lpstr>
      <vt:lpstr>Porter’s Competitive Forces Model</vt:lpstr>
      <vt:lpstr>Figure 3.1 Porter’s Competitive Forces Model</vt:lpstr>
      <vt:lpstr>Information System Strategies for Dealing with Competitive Forces        (1 of 5)</vt:lpstr>
      <vt:lpstr>Information System Strategies for Dealing with Competitive Forces        (2 of 5)</vt:lpstr>
      <vt:lpstr>Information System Strategies for Dealing with Competitive Forces         (3 of 5)</vt:lpstr>
      <vt:lpstr>Information System Strategies for Dealing with Competitive Forces       (4 of 5)</vt:lpstr>
      <vt:lpstr>Information System Strategies for Dealing with Competitive Forces       (5 of 5)</vt:lpstr>
      <vt:lpstr>The Internet’s Impact on Competitive Advantage</vt:lpstr>
      <vt:lpstr>The Business Value Chain Model</vt:lpstr>
      <vt:lpstr>Figure 3.2 The Value Chain Model</vt:lpstr>
      <vt:lpstr>The Value Chain Model</vt:lpstr>
      <vt:lpstr>The Value Chain Model</vt:lpstr>
      <vt:lpstr>The Value Chain Model</vt:lpstr>
      <vt:lpstr>The Value Chain Model</vt:lpstr>
      <vt:lpstr>The Value Web</vt:lpstr>
      <vt:lpstr>Figure 3.3 The Value Web</vt:lpstr>
      <vt:lpstr>Value chain vs value web </vt:lpstr>
      <vt:lpstr>Value chain vs value web </vt:lpstr>
      <vt:lpstr>Value chain vs value web </vt:lpstr>
    </vt:vector>
  </TitlesOfParts>
  <Company>Pearson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Management Information Systems: Managing the Digital Firm, Sixteenth Edition</dc:title>
  <dc:subject>Management</dc:subject>
  <dc:creator>Kenneth C. Laudon / Jane P. Laudon</dc:creator>
  <cp:keywords>Management Information Systems</cp:keywords>
  <dc:description/>
  <cp:lastModifiedBy>wael</cp:lastModifiedBy>
  <cp:revision>1060</cp:revision>
  <dcterms:created xsi:type="dcterms:W3CDTF">2014-07-14T20:04:21Z</dcterms:created>
  <dcterms:modified xsi:type="dcterms:W3CDTF">2025-12-10T08:09:48Z</dcterms:modified>
</cp:coreProperties>
</file>